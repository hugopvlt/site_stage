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66" r:id="rId18"/>
  </p:sldIdLst>
  <p:sldSz cx="14630400" cy="8229600"/>
  <p:notesSz cx="8229600" cy="14630400"/>
  <p:embeddedFontLs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IBM Plex Sans Medium" panose="020B0603050203000203" pitchFamily="34" charset="0"/>
      <p:regular r:id="rId24"/>
      <p:italic r:id="rId25"/>
    </p:embeddedFont>
    <p:embeddedFont>
      <p:font typeface="Roboto" panose="02000000000000000000" pitchFamily="2" charset="0"/>
      <p:regular r:id="rId26"/>
      <p:bold r:id="rId27"/>
      <p:italic r:id="rId28"/>
      <p:boldItalic r:id="rId29"/>
    </p:embeddedFont>
    <p:embeddedFont>
      <p:font typeface="Roboto Mono" panose="00000009000000000000" pitchFamily="49" charset="0"/>
      <p:regular r:id="rId30"/>
      <p:bold r:id="rId31"/>
      <p:italic r:id="rId32"/>
      <p:boldItalic r:id="rId33"/>
    </p:embeddedFont>
    <p:embeddedFont>
      <p:font typeface="Segoe UI" panose="020B0502040204020203" pitchFamily="34" charset="0"/>
      <p:regular r:id="rId34"/>
      <p:bold r:id="rId35"/>
      <p:italic r:id="rId36"/>
      <p:boldItalic r:id="rId37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3B757D-F27D-008D-27A3-2CA38AF8979C}" v="307" dt="2026-04-15T20:46:03.344"/>
    <p1510:client id="{866342FB-3921-553F-83E9-A5B339D548FE}" v="211" dt="2026-04-15T20:27:27.223"/>
    <p1510:client id="{8A739FDD-2BF1-645E-EBCB-379E1DF55D49}" v="512" dt="2026-04-15T21:40:19.489"/>
    <p1510:client id="{BF468555-8C8E-3559-C2E1-7C2602C88A53}" v="18" dt="2026-04-16T07:30:15.6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viewProps" Target="viewProps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1291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A414F-3DD9-83E7-DE8C-26075A6B5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CED9A9-0E35-1542-EB13-0CB01CD5EC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614D2B-2C7C-FDC2-8784-160A95265F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B37B4-ECE0-DE24-5F34-013388D897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5271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FF04C-E563-9987-1235-34D6CB3D0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80686B-56E2-7B78-2C1E-BBE3B1833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5A83AE-B8FF-388C-4977-FF4D13434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A6C6C-6BB7-3EBE-1E6D-D5F87C4302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6402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FD43A-ADF9-EE4E-778C-20A155894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A97BF4-45FD-B624-B9BD-7113898D83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C8359A-0F78-26CD-7049-0E4590F87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BEB3C8-37B7-CD79-9BF6-71E1A443E2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3317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D1CCA-6112-1AC2-C41F-2F1CA657F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E35BCF-720C-091E-C68E-D385FEE13D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B9B95B-25AA-7AAF-A06B-BB95938C4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5C339-7871-1316-1720-AEC124928B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8312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ED1CB-13A7-3C3E-8815-F50C70982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43188A-3E84-AB2E-D661-77B6C983CA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E8D4E0-C9F8-E267-4A6D-AC9300A092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D4D874-05D3-CB9B-CCDA-9D0387412E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6321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830E2-8378-1E5C-7396-77B7B5C4D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55C9C2-DD60-4068-9066-5559EB8CD1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02E8F0-A28D-C7D1-F706-5D30321D2B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21F31-6A10-7E8B-42AB-A989DE324E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551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408878"/>
            <a:ext cx="572821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>
                <a:solidFill>
                  <a:srgbClr val="F3F3F2"/>
                </a:solidFill>
                <a:latin typeface="IBM Plex Sans Medium"/>
                <a:ea typeface="IBM Plex Sans Medium" pitchFamily="34" charset="-122"/>
                <a:cs typeface="IBM Plex Sans Medium" pitchFamily="34" charset="-120"/>
              </a:rPr>
              <a:t>Sécurité Informatique</a:t>
            </a:r>
            <a:endParaRPr lang="en-US" sz="5400">
              <a:latin typeface="IBM Plex Sans Medium"/>
              <a:ea typeface="Calibri"/>
              <a:cs typeface="Calibri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4457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2000" err="1">
                <a:solidFill>
                  <a:srgbClr val="D4D4D1"/>
                </a:solidFill>
                <a:latin typeface="Roboto"/>
                <a:ea typeface="Roboto"/>
                <a:cs typeface="Roboto"/>
              </a:rPr>
              <a:t>Analyse</a:t>
            </a:r>
            <a:r>
              <a:rPr lang="en-US" sz="200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 de la </a:t>
            </a:r>
            <a:r>
              <a:rPr lang="en-US" sz="2000" err="1">
                <a:solidFill>
                  <a:srgbClr val="D4D4D1"/>
                </a:solidFill>
                <a:latin typeface="Roboto"/>
                <a:ea typeface="Roboto"/>
                <a:cs typeface="Roboto"/>
              </a:rPr>
              <a:t>cyberattaque</a:t>
            </a:r>
            <a:r>
              <a:rPr lang="en-US" sz="200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 du Ver Morris </a:t>
            </a:r>
            <a:r>
              <a:rPr lang="en-US" sz="2000" err="1">
                <a:solidFill>
                  <a:srgbClr val="D4D4D1"/>
                </a:solidFill>
                <a:latin typeface="Roboto"/>
                <a:ea typeface="Roboto"/>
                <a:cs typeface="Roboto"/>
              </a:rPr>
              <a:t>en</a:t>
            </a:r>
            <a:r>
              <a:rPr lang="en-US" sz="200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 1988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518" y="632817"/>
            <a:ext cx="5779413" cy="635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Déroulé des Événements</a:t>
            </a:r>
            <a:endParaRPr lang="en-US" sz="4000"/>
          </a:p>
        </p:txBody>
      </p:sp>
      <p:sp>
        <p:nvSpPr>
          <p:cNvPr id="3" name="Shape 1"/>
          <p:cNvSpPr/>
          <p:nvPr/>
        </p:nvSpPr>
        <p:spPr>
          <a:xfrm>
            <a:off x="7303770" y="1632466"/>
            <a:ext cx="22860" cy="5964198"/>
          </a:xfrm>
          <a:prstGeom prst="roundRect">
            <a:avLst>
              <a:gd name="adj" fmla="val 133398"/>
            </a:avLst>
          </a:prstGeom>
          <a:solidFill>
            <a:srgbClr val="61646A"/>
          </a:solidFill>
          <a:ln/>
        </p:spPr>
      </p:sp>
      <p:sp>
        <p:nvSpPr>
          <p:cNvPr id="4" name="Shape 2"/>
          <p:cNvSpPr/>
          <p:nvPr/>
        </p:nvSpPr>
        <p:spPr>
          <a:xfrm>
            <a:off x="6931581" y="1849636"/>
            <a:ext cx="406479" cy="22860"/>
          </a:xfrm>
          <a:prstGeom prst="roundRect">
            <a:avLst>
              <a:gd name="adj" fmla="val 133398"/>
            </a:avLst>
          </a:prstGeom>
          <a:solidFill>
            <a:srgbClr val="61646A"/>
          </a:solidFill>
          <a:ln/>
        </p:spPr>
      </p:sp>
      <p:sp>
        <p:nvSpPr>
          <p:cNvPr id="5" name="Shape 3"/>
          <p:cNvSpPr/>
          <p:nvPr/>
        </p:nvSpPr>
        <p:spPr>
          <a:xfrm>
            <a:off x="7239000" y="1784866"/>
            <a:ext cx="152400" cy="152400"/>
          </a:xfrm>
          <a:prstGeom prst="roundRect">
            <a:avLst>
              <a:gd name="adj" fmla="val 300000"/>
            </a:avLst>
          </a:prstGeom>
          <a:solidFill>
            <a:srgbClr val="FFBC8F"/>
          </a:solidFill>
          <a:ln/>
        </p:spPr>
      </p:sp>
      <p:sp>
        <p:nvSpPr>
          <p:cNvPr id="6" name="Text 4"/>
          <p:cNvSpPr/>
          <p:nvPr/>
        </p:nvSpPr>
        <p:spPr>
          <a:xfrm>
            <a:off x="3960971" y="1702237"/>
            <a:ext cx="25411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2 Novembre 1988, 20h30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11518" y="2129076"/>
            <a:ext cx="5790605" cy="308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60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</a:t>
            </a:r>
            <a:r>
              <a:rPr lang="fr-FR" sz="1800" b="0" i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Robert « </a:t>
            </a:r>
            <a:r>
              <a:rPr lang="fr-FR" sz="1800" b="0" i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Tappan</a:t>
            </a:r>
            <a:r>
              <a:rPr lang="fr-FR" sz="1800" b="0" i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» Morris lance le ver depuis le MIT </a:t>
            </a: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7292340" y="3027045"/>
            <a:ext cx="406479" cy="22860"/>
          </a:xfrm>
          <a:prstGeom prst="roundRect">
            <a:avLst>
              <a:gd name="adj" fmla="val 133398"/>
            </a:avLst>
          </a:prstGeom>
          <a:solidFill>
            <a:srgbClr val="61646A"/>
          </a:solidFill>
          <a:ln/>
        </p:spPr>
      </p:sp>
      <p:sp>
        <p:nvSpPr>
          <p:cNvPr id="9" name="Shape 7"/>
          <p:cNvSpPr/>
          <p:nvPr/>
        </p:nvSpPr>
        <p:spPr>
          <a:xfrm>
            <a:off x="7239000" y="2962275"/>
            <a:ext cx="152400" cy="152400"/>
          </a:xfrm>
          <a:prstGeom prst="roundRect">
            <a:avLst>
              <a:gd name="adj" fmla="val 300000"/>
            </a:avLst>
          </a:prstGeom>
          <a:solidFill>
            <a:srgbClr val="FFBC8F"/>
          </a:solidFill>
          <a:ln/>
        </p:spPr>
      </p:sp>
      <p:sp>
        <p:nvSpPr>
          <p:cNvPr id="10" name="Text 8"/>
          <p:cNvSpPr/>
          <p:nvPr/>
        </p:nvSpPr>
        <p:spPr>
          <a:xfrm>
            <a:off x="8128278" y="2879646"/>
            <a:ext cx="25411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err="1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Quelques</a:t>
            </a:r>
            <a:r>
              <a:rPr lang="en-US" sz="200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</a:t>
            </a:r>
            <a:r>
              <a:rPr lang="en-US" sz="2000" err="1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heures</a:t>
            </a:r>
            <a:r>
              <a:rPr lang="en-US" sz="200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plus tard</a:t>
            </a:r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8128278" y="3306485"/>
            <a:ext cx="5790605" cy="308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—6000 machines </a:t>
            </a:r>
            <a:r>
              <a:rPr lang="en-US" sz="160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infectées</a:t>
            </a:r>
            <a:r>
              <a:rPr lang="en-US" sz="16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( 10% des </a:t>
            </a:r>
            <a:r>
              <a:rPr lang="en-US" sz="160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ordinateurs</a:t>
            </a:r>
            <a:r>
              <a:rPr lang="en-US" sz="16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60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connectés</a:t>
            </a:r>
            <a:r>
              <a:rPr lang="en-US" sz="16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6931581" y="4057174"/>
            <a:ext cx="406479" cy="22860"/>
          </a:xfrm>
          <a:prstGeom prst="roundRect">
            <a:avLst>
              <a:gd name="adj" fmla="val 133398"/>
            </a:avLst>
          </a:prstGeom>
          <a:solidFill>
            <a:srgbClr val="61646A"/>
          </a:solidFill>
          <a:ln/>
        </p:spPr>
      </p:sp>
      <p:sp>
        <p:nvSpPr>
          <p:cNvPr id="13" name="Shape 11"/>
          <p:cNvSpPr/>
          <p:nvPr/>
        </p:nvSpPr>
        <p:spPr>
          <a:xfrm>
            <a:off x="7239000" y="3992404"/>
            <a:ext cx="152400" cy="152400"/>
          </a:xfrm>
          <a:prstGeom prst="roundRect">
            <a:avLst>
              <a:gd name="adj" fmla="val 300000"/>
            </a:avLst>
          </a:prstGeom>
          <a:solidFill>
            <a:srgbClr val="FFBC8F"/>
          </a:solidFill>
          <a:ln/>
        </p:spPr>
      </p:sp>
      <p:sp>
        <p:nvSpPr>
          <p:cNvPr id="14" name="Text 12"/>
          <p:cNvSpPr/>
          <p:nvPr/>
        </p:nvSpPr>
        <p:spPr>
          <a:xfrm>
            <a:off x="3960971" y="3909774"/>
            <a:ext cx="25411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>
                <a:solidFill>
                  <a:schemeClr val="bg1"/>
                </a:solidFill>
              </a:rPr>
              <a:t>Identification du </a:t>
            </a:r>
            <a:r>
              <a:rPr lang="en-US" sz="2000" err="1">
                <a:solidFill>
                  <a:schemeClr val="bg1"/>
                </a:solidFill>
              </a:rPr>
              <a:t>problème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711518" y="4336613"/>
            <a:ext cx="5790605" cy="308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6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—Une </a:t>
            </a:r>
            <a:r>
              <a:rPr lang="en-US" sz="160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erreur</a:t>
            </a:r>
            <a:r>
              <a:rPr lang="en-US" sz="16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code fait que le </a:t>
            </a:r>
            <a:r>
              <a:rPr lang="en-US" sz="160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</a:t>
            </a:r>
            <a:r>
              <a:rPr lang="en-US" sz="16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60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réinfecte</a:t>
            </a:r>
            <a:r>
              <a:rPr lang="en-US" sz="16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les </a:t>
            </a:r>
            <a:r>
              <a:rPr lang="en-US" sz="160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mêmes</a:t>
            </a:r>
            <a:r>
              <a:rPr lang="en-US" sz="16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machines</a:t>
            </a:r>
            <a:endParaRPr lang="en-US" sz="1600"/>
          </a:p>
        </p:txBody>
      </p:sp>
      <p:sp>
        <p:nvSpPr>
          <p:cNvPr id="16" name="Shape 14"/>
          <p:cNvSpPr/>
          <p:nvPr/>
        </p:nvSpPr>
        <p:spPr>
          <a:xfrm>
            <a:off x="7292340" y="5087422"/>
            <a:ext cx="406479" cy="22860"/>
          </a:xfrm>
          <a:prstGeom prst="roundRect">
            <a:avLst>
              <a:gd name="adj" fmla="val 133398"/>
            </a:avLst>
          </a:prstGeom>
          <a:solidFill>
            <a:srgbClr val="61646A"/>
          </a:solidFill>
          <a:ln/>
        </p:spPr>
      </p:sp>
      <p:sp>
        <p:nvSpPr>
          <p:cNvPr id="17" name="Shape 15"/>
          <p:cNvSpPr/>
          <p:nvPr/>
        </p:nvSpPr>
        <p:spPr>
          <a:xfrm>
            <a:off x="7239000" y="5022652"/>
            <a:ext cx="152400" cy="152400"/>
          </a:xfrm>
          <a:prstGeom prst="roundRect">
            <a:avLst>
              <a:gd name="adj" fmla="val 300000"/>
            </a:avLst>
          </a:prstGeom>
          <a:solidFill>
            <a:srgbClr val="FFBC8F"/>
          </a:solidFill>
          <a:ln/>
        </p:spPr>
      </p:sp>
      <p:sp>
        <p:nvSpPr>
          <p:cNvPr id="18" name="Text 16"/>
          <p:cNvSpPr/>
          <p:nvPr/>
        </p:nvSpPr>
        <p:spPr>
          <a:xfrm>
            <a:off x="8128278" y="4940022"/>
            <a:ext cx="25411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err="1">
                <a:solidFill>
                  <a:srgbClr val="D4D4D1"/>
                </a:solidFill>
                <a:latin typeface="IBM Plex Sans Medium" pitchFamily="34" charset="0"/>
              </a:rPr>
              <a:t>Régler</a:t>
            </a:r>
            <a:r>
              <a:rPr lang="en-US" sz="2000">
                <a:solidFill>
                  <a:srgbClr val="D4D4D1"/>
                </a:solidFill>
                <a:latin typeface="IBM Plex Sans Medium" pitchFamily="34" charset="0"/>
              </a:rPr>
              <a:t> le </a:t>
            </a:r>
            <a:r>
              <a:rPr lang="en-US" sz="2000" err="1">
                <a:solidFill>
                  <a:srgbClr val="D4D4D1"/>
                </a:solidFill>
                <a:latin typeface="IBM Plex Sans Medium" pitchFamily="34" charset="0"/>
              </a:rPr>
              <a:t>problème</a:t>
            </a:r>
            <a:endParaRPr lang="en-US" sz="2000"/>
          </a:p>
        </p:txBody>
      </p:sp>
      <p:sp>
        <p:nvSpPr>
          <p:cNvPr id="19" name="Text 17"/>
          <p:cNvSpPr/>
          <p:nvPr/>
        </p:nvSpPr>
        <p:spPr>
          <a:xfrm>
            <a:off x="8128278" y="5366861"/>
            <a:ext cx="5790605" cy="308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 </a:t>
            </a:r>
            <a:r>
              <a:rPr lang="en-US" sz="160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Plusieurs</a:t>
            </a:r>
            <a:r>
              <a:rPr lang="en-US" sz="16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60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semaines</a:t>
            </a:r>
            <a:r>
              <a:rPr lang="en-US" sz="16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pour </a:t>
            </a:r>
            <a:r>
              <a:rPr lang="en-US" sz="160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nettoyer</a:t>
            </a:r>
            <a:r>
              <a:rPr lang="en-US" sz="16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les </a:t>
            </a:r>
            <a:r>
              <a:rPr lang="en-US" sz="160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ordinateurs</a:t>
            </a:r>
            <a:endParaRPr lang="en-US" sz="1600"/>
          </a:p>
        </p:txBody>
      </p:sp>
      <p:sp>
        <p:nvSpPr>
          <p:cNvPr id="20" name="Shape 18"/>
          <p:cNvSpPr/>
          <p:nvPr/>
        </p:nvSpPr>
        <p:spPr>
          <a:xfrm>
            <a:off x="6931581" y="6117669"/>
            <a:ext cx="406479" cy="22860"/>
          </a:xfrm>
          <a:prstGeom prst="roundRect">
            <a:avLst>
              <a:gd name="adj" fmla="val 133398"/>
            </a:avLst>
          </a:prstGeom>
          <a:solidFill>
            <a:srgbClr val="61646A"/>
          </a:solidFill>
          <a:ln/>
        </p:spPr>
      </p:sp>
      <p:sp>
        <p:nvSpPr>
          <p:cNvPr id="21" name="Shape 19"/>
          <p:cNvSpPr/>
          <p:nvPr/>
        </p:nvSpPr>
        <p:spPr>
          <a:xfrm>
            <a:off x="7239000" y="6052899"/>
            <a:ext cx="152400" cy="152400"/>
          </a:xfrm>
          <a:prstGeom prst="roundRect">
            <a:avLst>
              <a:gd name="adj" fmla="val 300000"/>
            </a:avLst>
          </a:prstGeom>
          <a:solidFill>
            <a:srgbClr val="FFBC8F"/>
          </a:solidFill>
          <a:ln/>
        </p:spPr>
      </p:sp>
      <p:sp>
        <p:nvSpPr>
          <p:cNvPr id="22" name="Text 20"/>
          <p:cNvSpPr/>
          <p:nvPr/>
        </p:nvSpPr>
        <p:spPr>
          <a:xfrm>
            <a:off x="3960971" y="5970270"/>
            <a:ext cx="25411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Riposte </a:t>
            </a:r>
            <a:r>
              <a:rPr lang="en-US" sz="2000" err="1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trouvée</a:t>
            </a:r>
            <a:r>
              <a:rPr lang="en-US" sz="200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</a:t>
            </a:r>
            <a:r>
              <a:rPr lang="en-US" sz="2000" err="1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en</a:t>
            </a:r>
            <a:r>
              <a:rPr lang="en-US" sz="200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48 </a:t>
            </a:r>
            <a:r>
              <a:rPr lang="en-US" sz="2000" err="1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heures</a:t>
            </a:r>
            <a:endParaRPr lang="en-US" sz="2000"/>
          </a:p>
        </p:txBody>
      </p:sp>
      <p:sp>
        <p:nvSpPr>
          <p:cNvPr id="23" name="Text 21"/>
          <p:cNvSpPr/>
          <p:nvPr/>
        </p:nvSpPr>
        <p:spPr>
          <a:xfrm>
            <a:off x="711518" y="6397109"/>
            <a:ext cx="5790605" cy="308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6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—Le temps que les </a:t>
            </a:r>
            <a:r>
              <a:rPr lang="en-US" sz="160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correctifs</a:t>
            </a:r>
            <a:r>
              <a:rPr lang="en-US" sz="16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60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soient</a:t>
            </a:r>
            <a:r>
              <a:rPr lang="en-US" sz="16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appliqués, le </a:t>
            </a:r>
            <a:r>
              <a:rPr lang="en-US" sz="160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vers</a:t>
            </a:r>
            <a:r>
              <a:rPr lang="en-US" sz="16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 </a:t>
            </a:r>
            <a:r>
              <a:rPr lang="en-US" sz="160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propage</a:t>
            </a:r>
            <a:endParaRPr lang="en-US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984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Acteurs Impliqués</a:t>
            </a:r>
            <a:endParaRPr lang="en-US" sz="44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27434"/>
            <a:ext cx="8284131" cy="4623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19055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Parties Prenantes</a:t>
            </a:r>
            <a:endParaRPr lang="en-US" sz="2200"/>
          </a:p>
        </p:txBody>
      </p:sp>
      <p:sp>
        <p:nvSpPr>
          <p:cNvPr id="5" name="Shape 2"/>
          <p:cNvSpPr/>
          <p:nvPr/>
        </p:nvSpPr>
        <p:spPr>
          <a:xfrm>
            <a:off x="9638943" y="2515076"/>
            <a:ext cx="4205168" cy="1458635"/>
          </a:xfrm>
          <a:prstGeom prst="roundRect">
            <a:avLst>
              <a:gd name="adj" fmla="val 10030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608463" y="2515076"/>
            <a:ext cx="121920" cy="1458635"/>
          </a:xfrm>
          <a:prstGeom prst="roundRect">
            <a:avLst>
              <a:gd name="adj" fmla="val 27907"/>
            </a:avLst>
          </a:prstGeom>
          <a:solidFill>
            <a:srgbClr val="FFBC8F"/>
          </a:solidFill>
          <a:ln/>
        </p:spPr>
      </p:sp>
      <p:sp>
        <p:nvSpPr>
          <p:cNvPr id="7" name="Text 4"/>
          <p:cNvSpPr/>
          <p:nvPr/>
        </p:nvSpPr>
        <p:spPr>
          <a:xfrm>
            <a:off x="9987677" y="27723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Victime(s)</a:t>
            </a:r>
            <a:endParaRPr lang="en-US" sz="2200"/>
          </a:p>
        </p:txBody>
      </p:sp>
      <p:sp>
        <p:nvSpPr>
          <p:cNvPr id="8" name="Text 5"/>
          <p:cNvSpPr/>
          <p:nvPr/>
        </p:nvSpPr>
        <p:spPr>
          <a:xfrm>
            <a:off x="9987677" y="3353514"/>
            <a:ext cx="359914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chemeClr val="bg1"/>
                </a:solidFill>
              </a:rPr>
              <a:t>6 000 machines</a:t>
            </a:r>
          </a:p>
        </p:txBody>
      </p:sp>
      <p:sp>
        <p:nvSpPr>
          <p:cNvPr id="9" name="Shape 6"/>
          <p:cNvSpPr/>
          <p:nvPr/>
        </p:nvSpPr>
        <p:spPr>
          <a:xfrm>
            <a:off x="9638943" y="4298692"/>
            <a:ext cx="4205168" cy="1458635"/>
          </a:xfrm>
          <a:prstGeom prst="roundRect">
            <a:avLst>
              <a:gd name="adj" fmla="val 10030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08463" y="4200525"/>
            <a:ext cx="121920" cy="1458635"/>
          </a:xfrm>
          <a:prstGeom prst="roundRect">
            <a:avLst>
              <a:gd name="adj" fmla="val 27907"/>
            </a:avLst>
          </a:prstGeom>
          <a:solidFill>
            <a:srgbClr val="FFBC8F"/>
          </a:solidFill>
          <a:ln/>
        </p:spPr>
      </p:sp>
      <p:sp>
        <p:nvSpPr>
          <p:cNvPr id="11" name="Text 8"/>
          <p:cNvSpPr/>
          <p:nvPr/>
        </p:nvSpPr>
        <p:spPr>
          <a:xfrm>
            <a:off x="9987677" y="44578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Défenseurs</a:t>
            </a:r>
            <a:endParaRPr lang="en-US" sz="2200"/>
          </a:p>
        </p:txBody>
      </p:sp>
      <p:sp>
        <p:nvSpPr>
          <p:cNvPr id="12" name="Text 9"/>
          <p:cNvSpPr/>
          <p:nvPr/>
        </p:nvSpPr>
        <p:spPr>
          <a:xfrm>
            <a:off x="9987677" y="5038963"/>
            <a:ext cx="359914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Berkeley et le MIT</a:t>
            </a:r>
            <a:endParaRPr lang="en-US" sz="1750"/>
          </a:p>
        </p:txBody>
      </p:sp>
      <p:sp>
        <p:nvSpPr>
          <p:cNvPr id="13" name="Shape 10"/>
          <p:cNvSpPr/>
          <p:nvPr/>
        </p:nvSpPr>
        <p:spPr>
          <a:xfrm>
            <a:off x="9638943" y="5885974"/>
            <a:ext cx="4205168" cy="1458635"/>
          </a:xfrm>
          <a:prstGeom prst="roundRect">
            <a:avLst>
              <a:gd name="adj" fmla="val 10030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608463" y="5885974"/>
            <a:ext cx="121920" cy="1458635"/>
          </a:xfrm>
          <a:prstGeom prst="roundRect">
            <a:avLst>
              <a:gd name="adj" fmla="val 27907"/>
            </a:avLst>
          </a:prstGeom>
          <a:solidFill>
            <a:srgbClr val="FFBC8F"/>
          </a:solidFill>
          <a:ln/>
        </p:spPr>
      </p:sp>
      <p:sp>
        <p:nvSpPr>
          <p:cNvPr id="15" name="Text 12"/>
          <p:cNvSpPr/>
          <p:nvPr/>
        </p:nvSpPr>
        <p:spPr>
          <a:xfrm>
            <a:off x="9987677" y="61432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Tiers</a:t>
            </a:r>
            <a:endParaRPr lang="en-US" sz="2200"/>
          </a:p>
        </p:txBody>
      </p:sp>
      <p:sp>
        <p:nvSpPr>
          <p:cNvPr id="16" name="Text 13"/>
          <p:cNvSpPr/>
          <p:nvPr/>
        </p:nvSpPr>
        <p:spPr>
          <a:xfrm>
            <a:off x="9760863" y="6497598"/>
            <a:ext cx="3599140" cy="64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NASA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Lawrence Livermore National Laboratory</a:t>
            </a:r>
            <a:endParaRPr lang="en-US" sz="17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6991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Auteurs de l'Attaque</a:t>
            </a:r>
            <a:endParaRPr lang="en-US" sz="4450"/>
          </a:p>
        </p:txBody>
      </p:sp>
      <p:sp>
        <p:nvSpPr>
          <p:cNvPr id="4" name="Shape 1"/>
          <p:cNvSpPr/>
          <p:nvPr/>
        </p:nvSpPr>
        <p:spPr>
          <a:xfrm>
            <a:off x="6280190" y="3218855"/>
            <a:ext cx="3664744" cy="1306949"/>
          </a:xfrm>
          <a:prstGeom prst="roundRect">
            <a:avLst>
              <a:gd name="adj" fmla="val 2603"/>
            </a:avLst>
          </a:prstGeom>
          <a:solidFill>
            <a:srgbClr val="484B51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34456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Identité</a:t>
            </a:r>
            <a:endParaRPr lang="en-US" sz="2200"/>
          </a:p>
        </p:txBody>
      </p:sp>
      <p:sp>
        <p:nvSpPr>
          <p:cNvPr id="6" name="Text 3"/>
          <p:cNvSpPr/>
          <p:nvPr/>
        </p:nvSpPr>
        <p:spPr>
          <a:xfrm>
            <a:off x="6507004" y="3936087"/>
            <a:ext cx="3211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Robert Tappan Morris</a:t>
            </a:r>
            <a:endParaRPr lang="en-US" sz="1750"/>
          </a:p>
        </p:txBody>
      </p:sp>
      <p:sp>
        <p:nvSpPr>
          <p:cNvPr id="7" name="Shape 4"/>
          <p:cNvSpPr/>
          <p:nvPr/>
        </p:nvSpPr>
        <p:spPr>
          <a:xfrm>
            <a:off x="10171748" y="3218855"/>
            <a:ext cx="3664863" cy="1306949"/>
          </a:xfrm>
          <a:prstGeom prst="roundRect">
            <a:avLst>
              <a:gd name="adj" fmla="val 2603"/>
            </a:avLst>
          </a:prstGeom>
          <a:solidFill>
            <a:srgbClr val="484B51"/>
          </a:solidFill>
          <a:ln/>
        </p:spPr>
      </p:sp>
      <p:sp>
        <p:nvSpPr>
          <p:cNvPr id="8" name="Text 5"/>
          <p:cNvSpPr/>
          <p:nvPr/>
        </p:nvSpPr>
        <p:spPr>
          <a:xfrm>
            <a:off x="10398562" y="34456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Profil</a:t>
            </a:r>
            <a:endParaRPr lang="en-US" sz="2200"/>
          </a:p>
        </p:txBody>
      </p:sp>
      <p:sp>
        <p:nvSpPr>
          <p:cNvPr id="9" name="Text 6"/>
          <p:cNvSpPr/>
          <p:nvPr/>
        </p:nvSpPr>
        <p:spPr>
          <a:xfrm>
            <a:off x="10304962" y="3936087"/>
            <a:ext cx="3211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err="1">
                <a:solidFill>
                  <a:schemeClr val="bg1"/>
                </a:solidFill>
              </a:rPr>
              <a:t>Etudiant</a:t>
            </a:r>
            <a:r>
              <a:rPr lang="en-US" sz="1750">
                <a:solidFill>
                  <a:schemeClr val="bg1"/>
                </a:solidFill>
              </a:rPr>
              <a:t> </a:t>
            </a:r>
            <a:r>
              <a:rPr lang="en-US" sz="1750" err="1">
                <a:solidFill>
                  <a:schemeClr val="bg1"/>
                </a:solidFill>
              </a:rPr>
              <a:t>diplomé</a:t>
            </a:r>
            <a:r>
              <a:rPr lang="en-US" sz="1750">
                <a:solidFill>
                  <a:schemeClr val="bg1"/>
                </a:solidFill>
              </a:rPr>
              <a:t> à </a:t>
            </a:r>
            <a:r>
              <a:rPr lang="en-US" sz="1750" err="1">
                <a:solidFill>
                  <a:schemeClr val="bg1"/>
                </a:solidFill>
              </a:rPr>
              <a:t>l’Université</a:t>
            </a:r>
            <a:r>
              <a:rPr lang="en-US" sz="1750">
                <a:solidFill>
                  <a:schemeClr val="bg1"/>
                </a:solidFill>
              </a:rPr>
              <a:t> Cornell</a:t>
            </a:r>
          </a:p>
        </p:txBody>
      </p:sp>
      <p:sp>
        <p:nvSpPr>
          <p:cNvPr id="10" name="Shape 7"/>
          <p:cNvSpPr/>
          <p:nvPr/>
        </p:nvSpPr>
        <p:spPr>
          <a:xfrm>
            <a:off x="6280190" y="4752618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484B51"/>
          </a:solidFill>
          <a:ln/>
        </p:spPr>
      </p:sp>
      <p:sp>
        <p:nvSpPr>
          <p:cNvPr id="11" name="Text 8"/>
          <p:cNvSpPr/>
          <p:nvPr/>
        </p:nvSpPr>
        <p:spPr>
          <a:xfrm>
            <a:off x="6507004" y="49794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Origine</a:t>
            </a:r>
            <a:endParaRPr lang="en-US" sz="2200"/>
          </a:p>
        </p:txBody>
      </p:sp>
      <p:sp>
        <p:nvSpPr>
          <p:cNvPr id="12" name="Text 9"/>
          <p:cNvSpPr/>
          <p:nvPr/>
        </p:nvSpPr>
        <p:spPr>
          <a:xfrm>
            <a:off x="6507004" y="5469850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Lancé</a:t>
            </a:r>
            <a:r>
              <a:rPr lang="en-US" sz="17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depuis</a:t>
            </a:r>
            <a:r>
              <a:rPr lang="en-US" sz="17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le MIT, pour </a:t>
            </a:r>
            <a:r>
              <a:rPr lang="en-US" sz="175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éviter</a:t>
            </a:r>
            <a:r>
              <a:rPr lang="en-US" sz="17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tracer </a:t>
            </a:r>
            <a:r>
              <a:rPr lang="en-US" sz="175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l’attaque</a:t>
            </a:r>
            <a:r>
              <a:rPr lang="en-US" sz="17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depuis</a:t>
            </a:r>
            <a:r>
              <a:rPr lang="en-US" sz="17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Cornell</a:t>
            </a:r>
            <a:endParaRPr lang="en-US" sz="17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8461" y="517327"/>
            <a:ext cx="4562832" cy="570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Motivations</a:t>
            </a:r>
            <a:endParaRPr lang="en-US" sz="35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450" y="951748"/>
            <a:ext cx="6074093" cy="607409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10451" y="659903"/>
            <a:ext cx="2281357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Quelles motivations ?</a:t>
            </a:r>
            <a:endParaRPr lang="en-US" sz="1750"/>
          </a:p>
        </p:txBody>
      </p:sp>
      <p:sp>
        <p:nvSpPr>
          <p:cNvPr id="6" name="Text 2"/>
          <p:cNvSpPr/>
          <p:nvPr/>
        </p:nvSpPr>
        <p:spPr>
          <a:xfrm>
            <a:off x="6810451" y="1294791"/>
            <a:ext cx="6809109" cy="5508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0" fontAlgn="base"/>
            <a:r>
              <a:rPr lang="fr-FR" sz="1800" b="1" i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Objective initial</a:t>
            </a:r>
            <a:r>
              <a:rPr lang="fr-FR" sz="1800" b="0" i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 :</a:t>
            </a:r>
          </a:p>
          <a:p>
            <a:pPr rtl="0" fontAlgn="base"/>
            <a:endParaRPr lang="fr-FR" sz="1800" b="0" i="0">
              <a:solidFill>
                <a:schemeClr val="bg1"/>
              </a:solidFill>
              <a:effectLst/>
              <a:latin typeface="Aptos" panose="020B0004020202020204" pitchFamily="34" charset="0"/>
            </a:endParaRPr>
          </a:p>
          <a:p>
            <a:pPr rtl="0" fontAlgn="base"/>
            <a:r>
              <a:rPr lang="fr-FR" sz="1800" b="0" i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Mesurer la taille du réseau Internet en comptabilisant les machines infectées </a:t>
            </a:r>
            <a:endParaRPr lang="fr-FR" sz="1400" b="0" i="0">
              <a:solidFill>
                <a:schemeClr val="bg1"/>
              </a:solidFill>
              <a:effectLst/>
              <a:latin typeface="Segoe UI" panose="020B0502040204020203" pitchFamily="34" charset="0"/>
            </a:endParaRPr>
          </a:p>
          <a:p>
            <a:pPr rtl="0" fontAlgn="base"/>
            <a:endParaRPr lang="fr-FR" sz="1800" b="1" i="0">
              <a:solidFill>
                <a:schemeClr val="bg1"/>
              </a:solidFill>
              <a:effectLst/>
              <a:latin typeface="Aptos" panose="020B0004020202020204" pitchFamily="34" charset="0"/>
            </a:endParaRPr>
          </a:p>
          <a:p>
            <a:pPr rtl="0" fontAlgn="base"/>
            <a:r>
              <a:rPr lang="fr-FR" sz="1800" b="1" i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Intention</a:t>
            </a:r>
            <a:r>
              <a:rPr lang="fr-FR" sz="1800" b="0" i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 :</a:t>
            </a:r>
          </a:p>
          <a:p>
            <a:pPr rtl="0" fontAlgn="base"/>
            <a:endParaRPr lang="fr-FR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rtl="0" fontAlgn="base"/>
            <a:r>
              <a:rPr lang="fr-FR" sz="1800" b="0" i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Expérience académique non-destructive pour démontrer les failles de sécurité </a:t>
            </a:r>
            <a:endParaRPr lang="fr-FR" sz="1400" b="0" i="0">
              <a:solidFill>
                <a:schemeClr val="bg1"/>
              </a:solidFill>
              <a:effectLst/>
              <a:latin typeface="Segoe UI" panose="020B0502040204020203" pitchFamily="34" charset="0"/>
            </a:endParaRPr>
          </a:p>
          <a:p>
            <a:pPr rtl="0" fontAlgn="base"/>
            <a:endParaRPr lang="fr-FR" sz="1800" b="1" i="0">
              <a:solidFill>
                <a:schemeClr val="bg1"/>
              </a:solidFill>
              <a:effectLst/>
              <a:latin typeface="Aptos" panose="020B0004020202020204" pitchFamily="34" charset="0"/>
            </a:endParaRPr>
          </a:p>
          <a:p>
            <a:pPr rtl="0" fontAlgn="base"/>
            <a:r>
              <a:rPr lang="fr-FR" sz="1800" b="1" i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Ce qui s’est mal passé</a:t>
            </a:r>
            <a:r>
              <a:rPr lang="fr-FR" sz="1800" b="0" i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 :</a:t>
            </a:r>
          </a:p>
          <a:p>
            <a:pPr rtl="0" fontAlgn="base"/>
            <a:endParaRPr lang="fr-FR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rtl="0" fontAlgn="base"/>
            <a:r>
              <a:rPr lang="fr-FR" sz="1800" b="0" i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Erreur de code – le ver continue à se répliquer indépendamment de</a:t>
            </a:r>
          </a:p>
          <a:p>
            <a:pPr rtl="0" fontAlgn="base"/>
            <a:r>
              <a:rPr lang="fr-FR" sz="1800" b="0" i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son statut d’infection, créant une avalanche de copies qui paralyse</a:t>
            </a:r>
          </a:p>
          <a:p>
            <a:pPr rtl="0" fontAlgn="base"/>
            <a:r>
              <a:rPr lang="fr-FR" sz="1800" b="0" i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les systèmes. </a:t>
            </a:r>
            <a:endParaRPr lang="fr-FR" sz="1400" b="0" i="0">
              <a:solidFill>
                <a:schemeClr val="bg1"/>
              </a:solidFill>
              <a:effectLst/>
              <a:latin typeface="Segoe UI" panose="020B0502040204020203" pitchFamily="34" charset="0"/>
            </a:endParaRPr>
          </a:p>
          <a:p>
            <a:pPr rtl="0" fontAlgn="base"/>
            <a:endParaRPr lang="fr-FR" sz="1800" b="1" i="0">
              <a:solidFill>
                <a:schemeClr val="bg1"/>
              </a:solidFill>
              <a:effectLst/>
              <a:latin typeface="Aptos" panose="020B0004020202020204" pitchFamily="34" charset="0"/>
            </a:endParaRPr>
          </a:p>
          <a:p>
            <a:pPr rtl="0" fontAlgn="base"/>
            <a:r>
              <a:rPr lang="fr-FR" sz="1800" b="1" i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Action de Morris</a:t>
            </a:r>
            <a:r>
              <a:rPr lang="fr-FR" sz="1800" b="0" i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 :</a:t>
            </a:r>
          </a:p>
          <a:p>
            <a:pPr rtl="0" fontAlgn="base"/>
            <a:r>
              <a:rPr lang="fr-FR" sz="1800" b="0" i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En voyant l’ampleur, il a tenté de prévenir discrètement les journalistes</a:t>
            </a:r>
          </a:p>
          <a:p>
            <a:pPr rtl="0" fontAlgn="base"/>
            <a:r>
              <a:rPr lang="fr-FR" sz="1800" b="0" i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que c’était une erreur </a:t>
            </a:r>
            <a:endParaRPr lang="fr-FR" sz="1400" b="0" i="0">
              <a:solidFill>
                <a:schemeClr val="bg1"/>
              </a:solidFill>
              <a:effectLst/>
              <a:latin typeface="Segoe UI" panose="020B0502040204020203" pitchFamily="34" charset="0"/>
            </a:endParaRPr>
          </a:p>
          <a:p>
            <a:pPr marL="0" indent="0">
              <a:lnSpc>
                <a:spcPts val="2050"/>
              </a:lnSpc>
              <a:buNone/>
            </a:pPr>
            <a:endParaRPr lang="en-US" sz="1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1365052"/>
            <a:ext cx="69284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Conséquences Financières</a:t>
            </a:r>
            <a:endParaRPr lang="en-US" sz="4450"/>
          </a:p>
        </p:txBody>
      </p:sp>
      <p:sp>
        <p:nvSpPr>
          <p:cNvPr id="4" name="Text 1"/>
          <p:cNvSpPr/>
          <p:nvPr/>
        </p:nvSpPr>
        <p:spPr>
          <a:xfrm>
            <a:off x="6280190" y="2527340"/>
            <a:ext cx="36364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—</a:t>
            </a:r>
            <a:endParaRPr lang="en-US" sz="5850"/>
          </a:p>
        </p:txBody>
      </p:sp>
      <p:sp>
        <p:nvSpPr>
          <p:cNvPr id="5" name="Text 2"/>
          <p:cNvSpPr/>
          <p:nvPr/>
        </p:nvSpPr>
        <p:spPr>
          <a:xfrm>
            <a:off x="6680716" y="35591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Coût direct</a:t>
            </a:r>
            <a:endParaRPr lang="en-US" sz="2200"/>
          </a:p>
        </p:txBody>
      </p:sp>
      <p:sp>
        <p:nvSpPr>
          <p:cNvPr id="6" name="Text 3"/>
          <p:cNvSpPr/>
          <p:nvPr/>
        </p:nvSpPr>
        <p:spPr>
          <a:xfrm>
            <a:off x="6280190" y="4112616"/>
            <a:ext cx="36364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850"/>
              </a:lnSpc>
            </a:pPr>
            <a:r>
              <a:rPr lang="fr-FR" sz="1600">
                <a:solidFill>
                  <a:schemeClr val="bg1"/>
                </a:solidFill>
                <a:latin typeface="Aptos"/>
                <a:ea typeface="Roboto"/>
                <a:cs typeface="Roboto"/>
              </a:rPr>
              <a:t>Entre 100 000 $ et 10 millions de dollars</a:t>
            </a:r>
            <a:endParaRPr lang="fr-FR" sz="1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200084" y="2527340"/>
            <a:ext cx="36365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—</a:t>
            </a:r>
            <a:endParaRPr lang="en-US" sz="5850"/>
          </a:p>
        </p:txBody>
      </p:sp>
      <p:sp>
        <p:nvSpPr>
          <p:cNvPr id="8" name="Text 5"/>
          <p:cNvSpPr/>
          <p:nvPr/>
        </p:nvSpPr>
        <p:spPr>
          <a:xfrm>
            <a:off x="10600730" y="35591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err="1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Coût</a:t>
            </a:r>
            <a:r>
              <a:rPr lang="en-US" sz="220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par machine</a:t>
            </a:r>
            <a:endParaRPr lang="en-US" sz="2200"/>
          </a:p>
        </p:txBody>
      </p:sp>
      <p:pic>
        <p:nvPicPr>
          <p:cNvPr id="14" name="Image 13" descr="Une image contenant pièce, outil, noir et blanc">
            <a:extLst>
              <a:ext uri="{FF2B5EF4-FFF2-40B4-BE49-F238E27FC236}">
                <a16:creationId xmlns:a16="http://schemas.microsoft.com/office/drawing/2014/main" id="{4CCF74C9-7F8D-A2A4-6BC3-FA79894843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998" r="-998"/>
          <a:stretch/>
        </p:blipFill>
        <p:spPr>
          <a:xfrm>
            <a:off x="-71024" y="0"/>
            <a:ext cx="5595937" cy="82296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A18A609-D482-41CC-B9DD-5CD663A8ACE8}"/>
              </a:ext>
            </a:extLst>
          </p:cNvPr>
          <p:cNvSpPr txBox="1"/>
          <p:nvPr/>
        </p:nvSpPr>
        <p:spPr>
          <a:xfrm>
            <a:off x="10350062" y="4154214"/>
            <a:ext cx="428033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solidFill>
                  <a:schemeClr val="bg1"/>
                </a:solidFill>
                <a:latin typeface="Aptos"/>
              </a:rPr>
              <a:t>Entre 200</a:t>
            </a:r>
            <a:r>
              <a:rPr lang="fr-FR" b="0" i="0">
                <a:solidFill>
                  <a:schemeClr val="bg1"/>
                </a:solidFill>
                <a:latin typeface="Aptos"/>
              </a:rPr>
              <a:t> $ à 53 000 $ pour l’élimination</a:t>
            </a:r>
            <a:r>
              <a:rPr b="0" i="0">
                <a:solidFill>
                  <a:schemeClr val="bg1"/>
                </a:solidFill>
                <a:latin typeface="Aptos"/>
                <a:ea typeface="Aptos"/>
                <a:cs typeface="Aptos"/>
              </a:rPr>
              <a:t> </a:t>
            </a:r>
            <a:endParaRPr lang="fr-FR">
              <a:solidFill>
                <a:schemeClr val="bg1"/>
              </a:solidFill>
              <a:ea typeface="Calibri"/>
              <a:cs typeface="Calibri"/>
            </a:endParaRPr>
          </a:p>
          <a:p>
            <a:pPr algn="ctr"/>
            <a:endParaRPr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3342"/>
            <a:ext cx="101636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Conséquences Politiques &amp; Historiques</a:t>
            </a:r>
            <a:endParaRPr lang="en-US" sz="44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27434"/>
            <a:ext cx="8284131" cy="4623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35931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Impact Politique</a:t>
            </a:r>
            <a:endParaRPr lang="en-US" sz="2200"/>
          </a:p>
        </p:txBody>
      </p:sp>
      <p:sp>
        <p:nvSpPr>
          <p:cNvPr id="5" name="Text 2"/>
          <p:cNvSpPr/>
          <p:nvPr/>
        </p:nvSpPr>
        <p:spPr>
          <a:xfrm>
            <a:off x="9638943" y="4131603"/>
            <a:ext cx="4666640" cy="379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Première </a:t>
            </a:r>
            <a:r>
              <a:rPr lang="en-US" sz="1750" err="1">
                <a:solidFill>
                  <a:srgbClr val="D4D4D1"/>
                </a:solidFill>
                <a:latin typeface="Roboto"/>
                <a:ea typeface="Roboto"/>
                <a:cs typeface="Roboto"/>
              </a:rPr>
              <a:t>condamnation</a:t>
            </a:r>
            <a:r>
              <a:rPr lang="en-US" sz="175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 sous le CFAA (1986)</a:t>
            </a:r>
          </a:p>
        </p:txBody>
      </p:sp>
      <p:sp>
        <p:nvSpPr>
          <p:cNvPr id="6" name="Text 3"/>
          <p:cNvSpPr/>
          <p:nvPr/>
        </p:nvSpPr>
        <p:spPr>
          <a:xfrm>
            <a:off x="9638943" y="47640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Impact Historique</a:t>
            </a:r>
            <a:endParaRPr lang="en-US" sz="2200"/>
          </a:p>
        </p:txBody>
      </p:sp>
      <p:sp>
        <p:nvSpPr>
          <p:cNvPr id="7" name="Text 4"/>
          <p:cNvSpPr/>
          <p:nvPr/>
        </p:nvSpPr>
        <p:spPr>
          <a:xfrm>
            <a:off x="9638943" y="5345192"/>
            <a:ext cx="42051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err="1">
                <a:solidFill>
                  <a:srgbClr val="D4D4D1"/>
                </a:solidFill>
                <a:latin typeface="Roboto"/>
                <a:ea typeface="Roboto"/>
                <a:cs typeface="Roboto"/>
              </a:rPr>
              <a:t>Amélioration</a:t>
            </a:r>
            <a:r>
              <a:rPr lang="en-US" sz="175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 des </a:t>
            </a:r>
            <a:r>
              <a:rPr lang="en-US" sz="1750" err="1">
                <a:solidFill>
                  <a:srgbClr val="D4D4D1"/>
                </a:solidFill>
                <a:latin typeface="Roboto"/>
                <a:ea typeface="Roboto"/>
                <a:cs typeface="Roboto"/>
              </a:rPr>
              <a:t>systèmes</a:t>
            </a:r>
            <a:r>
              <a:rPr lang="en-US" sz="175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 de sécurité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19801"/>
            <a:ext cx="798814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Conséquences Technologiques</a:t>
            </a:r>
            <a:endParaRPr lang="en-US" sz="44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804" y="3382208"/>
            <a:ext cx="2411968" cy="14906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347804" y="51563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Infrastructures</a:t>
            </a:r>
            <a:endParaRPr lang="en-US" sz="2200"/>
          </a:p>
        </p:txBody>
      </p:sp>
      <p:sp>
        <p:nvSpPr>
          <p:cNvPr id="5" name="Text 2"/>
          <p:cNvSpPr/>
          <p:nvPr/>
        </p:nvSpPr>
        <p:spPr>
          <a:xfrm>
            <a:off x="3347804" y="5646777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600" err="1">
                <a:solidFill>
                  <a:schemeClr val="bg1"/>
                </a:solidFill>
                <a:latin typeface="Aptos"/>
                <a:ea typeface="Roboto"/>
                <a:cs typeface="Roboto"/>
              </a:rPr>
              <a:t>Création</a:t>
            </a:r>
            <a:r>
              <a:rPr lang="en-US" sz="1600">
                <a:solidFill>
                  <a:schemeClr val="bg1"/>
                </a:solidFill>
                <a:latin typeface="Aptos"/>
                <a:ea typeface="Roboto"/>
                <a:cs typeface="Roboto"/>
              </a:rPr>
              <a:t> </a:t>
            </a:r>
            <a:r>
              <a:rPr lang="en-US" sz="1600" err="1">
                <a:solidFill>
                  <a:schemeClr val="bg1"/>
                </a:solidFill>
                <a:latin typeface="Aptos"/>
                <a:ea typeface="Roboto"/>
                <a:cs typeface="Roboto"/>
              </a:rPr>
              <a:t>d’institutions</a:t>
            </a:r>
            <a:r>
              <a:rPr lang="en-US" sz="1600">
                <a:solidFill>
                  <a:schemeClr val="bg1"/>
                </a:solidFill>
                <a:latin typeface="Aptos"/>
                <a:ea typeface="Roboto"/>
                <a:cs typeface="Roboto"/>
              </a:rPr>
              <a:t> (CERT, CIAC)</a:t>
            </a:r>
            <a:endParaRPr lang="fr-FR" sz="160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7209" y="3382208"/>
            <a:ext cx="2411968" cy="14906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17209" y="51563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err="1">
                <a:solidFill>
                  <a:srgbClr val="D4D4D1"/>
                </a:solidFill>
                <a:latin typeface="IBM Plex Sans Medium"/>
              </a:rPr>
              <a:t>Méthodologie</a:t>
            </a:r>
            <a:endParaRPr lang="en-US" sz="2200" err="1"/>
          </a:p>
        </p:txBody>
      </p:sp>
      <p:sp>
        <p:nvSpPr>
          <p:cNvPr id="11" name="Text 6"/>
          <p:cNvSpPr/>
          <p:nvPr/>
        </p:nvSpPr>
        <p:spPr>
          <a:xfrm>
            <a:off x="8117209" y="5646777"/>
            <a:ext cx="5955883" cy="946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fr-FR" sz="1600">
                <a:solidFill>
                  <a:schemeClr val="bg1"/>
                </a:solidFill>
                <a:latin typeface="Aptos"/>
                <a:ea typeface="Roboto"/>
                <a:cs typeface="Roboto"/>
              </a:rPr>
              <a:t>Fin de l’innocence d’Internet, naissance de la conscience sécurité</a:t>
            </a:r>
            <a:endParaRPr lang="en-US" sz="1600">
              <a:solidFill>
                <a:schemeClr val="bg1"/>
              </a:solidFill>
              <a:latin typeface="Aptos"/>
              <a:ea typeface="Roboto"/>
              <a:cs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8461" y="517327"/>
            <a:ext cx="4941213" cy="570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Causes &amp; Vulnérabilités</a:t>
            </a:r>
            <a:endParaRPr lang="en-US" sz="3550"/>
          </a:p>
        </p:txBody>
      </p:sp>
      <p:sp>
        <p:nvSpPr>
          <p:cNvPr id="3" name="Text 1"/>
          <p:cNvSpPr/>
          <p:nvPr/>
        </p:nvSpPr>
        <p:spPr>
          <a:xfrm>
            <a:off x="1018461" y="3748564"/>
            <a:ext cx="2582823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Vulnérabilités exploitées</a:t>
            </a:r>
            <a:endParaRPr lang="en-US" sz="1750"/>
          </a:p>
        </p:txBody>
      </p:sp>
      <p:sp>
        <p:nvSpPr>
          <p:cNvPr id="4" name="Text 2"/>
          <p:cNvSpPr/>
          <p:nvPr/>
        </p:nvSpPr>
        <p:spPr>
          <a:xfrm>
            <a:off x="1018461" y="4243586"/>
            <a:ext cx="6074093" cy="886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buFont typeface="Calibri"/>
              <a:buChar char="-"/>
            </a:pPr>
            <a:r>
              <a:rPr lang="fr-FR" sz="1600">
                <a:solidFill>
                  <a:schemeClr val="bg1"/>
                </a:solidFill>
                <a:latin typeface="Aptos"/>
                <a:ea typeface="Calibri"/>
                <a:cs typeface="Calibri"/>
              </a:rPr>
              <a:t>Mode de débogage permettait d’envoyer du code compilable à distance</a:t>
            </a:r>
            <a:endParaRPr lang="en-US" sz="1600">
              <a:solidFill>
                <a:schemeClr val="bg1"/>
              </a:solidFill>
              <a:latin typeface="Aptos"/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r>
              <a:rPr lang="fr-FR" sz="1600">
                <a:solidFill>
                  <a:schemeClr val="bg1"/>
                </a:solidFill>
                <a:latin typeface="Aptos"/>
                <a:ea typeface="Calibri"/>
                <a:cs typeface="Calibri"/>
              </a:rPr>
              <a:t>Pas d’authentification requise</a:t>
            </a:r>
            <a:endParaRPr lang="en-US" sz="1600">
              <a:solidFill>
                <a:schemeClr val="bg1"/>
              </a:solidFill>
              <a:latin typeface="Aptos"/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r>
              <a:rPr lang="fr-FR" sz="1600">
                <a:solidFill>
                  <a:schemeClr val="bg1"/>
                </a:solidFill>
                <a:latin typeface="Aptos"/>
                <a:ea typeface="Calibri"/>
                <a:cs typeface="Calibri"/>
              </a:rPr>
              <a:t>Correction : désactiver le mode DEBUG</a:t>
            </a:r>
            <a:endParaRPr lang="en-US" sz="1600">
              <a:solidFill>
                <a:schemeClr val="bg1"/>
              </a:solidFill>
              <a:latin typeface="Aptos"/>
              <a:ea typeface="Calibri"/>
              <a:cs typeface="Calibri"/>
            </a:endParaRPr>
          </a:p>
          <a:p>
            <a:pPr marL="0" indent="0" algn="l">
              <a:lnSpc>
                <a:spcPts val="2050"/>
              </a:lnSpc>
              <a:buNone/>
            </a:pPr>
            <a:endParaRPr lang="en-US" sz="1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18461" y="5292377"/>
            <a:ext cx="2281357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Résolution</a:t>
            </a:r>
            <a:endParaRPr lang="en-US" sz="1750"/>
          </a:p>
        </p:txBody>
      </p:sp>
      <p:sp>
        <p:nvSpPr>
          <p:cNvPr id="6" name="Text 4"/>
          <p:cNvSpPr/>
          <p:nvPr/>
        </p:nvSpPr>
        <p:spPr>
          <a:xfrm>
            <a:off x="1018461" y="5818930"/>
            <a:ext cx="6074093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buFont typeface="Calibri"/>
              <a:buChar char="-"/>
            </a:pPr>
            <a:r>
              <a:rPr lang="fr-FR" sz="1600" err="1">
                <a:solidFill>
                  <a:schemeClr val="bg1"/>
                </a:solidFill>
                <a:latin typeface="Aptos"/>
                <a:ea typeface="Roboto"/>
                <a:cs typeface="Roboto"/>
              </a:rPr>
              <a:t>Try_rsh</a:t>
            </a:r>
            <a:r>
              <a:rPr lang="fr-FR" sz="1600">
                <a:solidFill>
                  <a:schemeClr val="bg1"/>
                </a:solidFill>
                <a:latin typeface="Aptos"/>
                <a:ea typeface="Roboto"/>
                <a:cs typeface="Roboto"/>
              </a:rPr>
              <a:t> : Crée un processus enfant qui tente une exécution distante, reçoit le code du ver</a:t>
            </a:r>
            <a:endParaRPr lang="en-US" sz="1600">
              <a:solidFill>
                <a:schemeClr val="bg1"/>
              </a:solidFill>
              <a:latin typeface="Aptos"/>
              <a:ea typeface="Roboto"/>
              <a:cs typeface="Roboto"/>
            </a:endParaRPr>
          </a:p>
          <a:p>
            <a:pPr marL="285750" indent="-285750">
              <a:buFont typeface="Calibri"/>
              <a:buChar char="-"/>
            </a:pPr>
            <a:r>
              <a:rPr lang="fr-FR" sz="1600" err="1">
                <a:solidFill>
                  <a:schemeClr val="bg1"/>
                </a:solidFill>
                <a:latin typeface="Aptos"/>
                <a:ea typeface="Roboto"/>
                <a:cs typeface="Roboto"/>
              </a:rPr>
              <a:t>Try_fingerd</a:t>
            </a:r>
            <a:r>
              <a:rPr lang="fr-FR" sz="1600">
                <a:solidFill>
                  <a:schemeClr val="bg1"/>
                </a:solidFill>
                <a:latin typeface="Aptos"/>
                <a:ea typeface="Roboto"/>
                <a:cs typeface="Roboto"/>
              </a:rPr>
              <a:t> : Si </a:t>
            </a:r>
            <a:r>
              <a:rPr lang="fr-FR" sz="1600" err="1">
                <a:solidFill>
                  <a:schemeClr val="bg1"/>
                </a:solidFill>
                <a:latin typeface="Aptos"/>
                <a:ea typeface="Roboto"/>
                <a:cs typeface="Roboto"/>
              </a:rPr>
              <a:t>rsh</a:t>
            </a:r>
            <a:r>
              <a:rPr lang="fr-FR" sz="1600">
                <a:solidFill>
                  <a:schemeClr val="bg1"/>
                </a:solidFill>
                <a:latin typeface="Aptos"/>
                <a:ea typeface="Roboto"/>
                <a:cs typeface="Roboto"/>
              </a:rPr>
              <a:t> échoue, exploite le débordement de buffer de finger pour obtenir un </a:t>
            </a:r>
            <a:r>
              <a:rPr lang="fr-FR" sz="1600" err="1">
                <a:solidFill>
                  <a:schemeClr val="bg1"/>
                </a:solidFill>
                <a:latin typeface="Aptos"/>
                <a:ea typeface="Roboto"/>
                <a:cs typeface="Roboto"/>
              </a:rPr>
              <a:t>shell</a:t>
            </a:r>
            <a:endParaRPr lang="en-US" sz="1600">
              <a:solidFill>
                <a:schemeClr val="bg1"/>
              </a:solidFill>
              <a:latin typeface="Aptos"/>
              <a:ea typeface="Roboto"/>
              <a:cs typeface="Roboto"/>
            </a:endParaRPr>
          </a:p>
          <a:p>
            <a:pPr marL="285750" indent="-285750">
              <a:buFont typeface="Calibri"/>
              <a:buChar char="-"/>
            </a:pPr>
            <a:r>
              <a:rPr lang="fr-FR" sz="1600" err="1">
                <a:solidFill>
                  <a:schemeClr val="bg1"/>
                </a:solidFill>
                <a:latin typeface="Aptos"/>
                <a:ea typeface="Roboto"/>
                <a:cs typeface="Roboto"/>
              </a:rPr>
              <a:t>Try_sendmail</a:t>
            </a:r>
            <a:r>
              <a:rPr lang="fr-FR" sz="1600">
                <a:solidFill>
                  <a:schemeClr val="bg1"/>
                </a:solidFill>
                <a:latin typeface="Aptos"/>
                <a:ea typeface="Roboto"/>
                <a:cs typeface="Roboto"/>
              </a:rPr>
              <a:t> : Si les 2 précédents échouent, envoie un email malformé à </a:t>
            </a:r>
            <a:r>
              <a:rPr lang="fr-FR" sz="1600" err="1">
                <a:solidFill>
                  <a:schemeClr val="bg1"/>
                </a:solidFill>
                <a:latin typeface="Aptos"/>
                <a:ea typeface="Roboto"/>
                <a:cs typeface="Roboto"/>
              </a:rPr>
              <a:t>sendmail</a:t>
            </a:r>
            <a:r>
              <a:rPr lang="fr-FR" sz="1600">
                <a:solidFill>
                  <a:schemeClr val="bg1"/>
                </a:solidFill>
                <a:latin typeface="Aptos"/>
                <a:ea typeface="Roboto"/>
                <a:cs typeface="Roboto"/>
              </a:rPr>
              <a:t> qui le compile et exécute</a:t>
            </a:r>
            <a:endParaRPr lang="en-US" sz="1600">
              <a:solidFill>
                <a:schemeClr val="bg1"/>
              </a:solidFill>
              <a:ea typeface="Calibri"/>
              <a:cs typeface="Calibri"/>
            </a:endParaRPr>
          </a:p>
          <a:p>
            <a:pPr marL="0" indent="0" algn="l">
              <a:lnSpc>
                <a:spcPts val="2050"/>
              </a:lnSpc>
              <a:buNone/>
            </a:pPr>
            <a:endParaRPr lang="en-US" sz="1600">
              <a:solidFill>
                <a:schemeClr val="bg1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5467" y="1473041"/>
            <a:ext cx="6074093" cy="6074093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5467" y="1473041"/>
            <a:ext cx="6074093" cy="60740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99561"/>
            <a:ext cx="57571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Méthode &amp; Prévention</a:t>
            </a:r>
            <a:endParaRPr lang="en-US" sz="4450"/>
          </a:p>
        </p:txBody>
      </p:sp>
      <p:sp>
        <p:nvSpPr>
          <p:cNvPr id="3" name="Text 1"/>
          <p:cNvSpPr/>
          <p:nvPr/>
        </p:nvSpPr>
        <p:spPr>
          <a:xfrm>
            <a:off x="793790" y="3593068"/>
            <a:ext cx="34934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Comment ont-ils procédé ?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793790" y="4174212"/>
            <a:ext cx="42051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Application d'un patch </a:t>
            </a:r>
            <a:r>
              <a:rPr lang="en-US" sz="1750" err="1">
                <a:solidFill>
                  <a:srgbClr val="D4D4D1"/>
                </a:solidFill>
                <a:latin typeface="Roboto"/>
                <a:ea typeface="Roboto"/>
                <a:cs typeface="Roboto"/>
              </a:rPr>
              <a:t>progressivement</a:t>
            </a:r>
            <a:endParaRPr lang="en-US" sz="1750" err="1"/>
          </a:p>
        </p:txBody>
      </p:sp>
      <p:sp>
        <p:nvSpPr>
          <p:cNvPr id="5" name="Text 3"/>
          <p:cNvSpPr/>
          <p:nvPr/>
        </p:nvSpPr>
        <p:spPr>
          <a:xfrm>
            <a:off x="793790" y="47639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Comment l'éviter ?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793790" y="5345073"/>
            <a:ext cx="4205168" cy="1269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err="1">
                <a:solidFill>
                  <a:srgbClr val="D4D4D1"/>
                </a:solidFill>
                <a:latin typeface="Roboto"/>
                <a:ea typeface="Roboto"/>
                <a:cs typeface="Roboto"/>
              </a:rPr>
              <a:t>Mettre</a:t>
            </a:r>
            <a:r>
              <a:rPr lang="en-US" sz="175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 à </a:t>
            </a:r>
            <a:r>
              <a:rPr lang="en-US" sz="1750" err="1">
                <a:solidFill>
                  <a:srgbClr val="D4D4D1"/>
                </a:solidFill>
                <a:latin typeface="Roboto"/>
                <a:ea typeface="Roboto"/>
                <a:cs typeface="Roboto"/>
              </a:rPr>
              <a:t>jours</a:t>
            </a:r>
            <a:r>
              <a:rPr lang="en-US" sz="175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750" err="1">
                <a:solidFill>
                  <a:srgbClr val="D4D4D1"/>
                </a:solidFill>
                <a:latin typeface="Roboto"/>
                <a:ea typeface="Roboto"/>
                <a:cs typeface="Roboto"/>
              </a:rPr>
              <a:t>régulièrement</a:t>
            </a:r>
            <a:r>
              <a:rPr lang="en-US" sz="175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 les </a:t>
            </a:r>
            <a:r>
              <a:rPr lang="en-US" sz="1750" err="1">
                <a:solidFill>
                  <a:srgbClr val="D4D4D1"/>
                </a:solidFill>
                <a:latin typeface="Roboto"/>
                <a:ea typeface="Roboto"/>
                <a:cs typeface="Roboto"/>
              </a:rPr>
              <a:t>systèmes</a:t>
            </a:r>
            <a:endParaRPr lang="en-US" sz="1750" err="1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lnSpc>
                <a:spcPts val="2850"/>
              </a:lnSpc>
            </a:pPr>
            <a:r>
              <a:rPr lang="en-US" sz="175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 </a:t>
            </a:r>
            <a:r>
              <a:rPr lang="en-US" sz="1750" err="1">
                <a:solidFill>
                  <a:srgbClr val="D4D4D1"/>
                </a:solidFill>
                <a:latin typeface="Roboto"/>
                <a:ea typeface="Roboto"/>
                <a:cs typeface="Roboto"/>
              </a:rPr>
              <a:t>d'antivirus</a:t>
            </a:r>
            <a:r>
              <a:rPr lang="en-US" sz="175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 pour </a:t>
            </a:r>
            <a:r>
              <a:rPr lang="en-US" sz="1750" err="1">
                <a:solidFill>
                  <a:srgbClr val="D4D4D1"/>
                </a:solidFill>
                <a:latin typeface="Roboto"/>
                <a:ea typeface="Roboto"/>
                <a:cs typeface="Roboto"/>
              </a:rPr>
              <a:t>corriger</a:t>
            </a:r>
            <a:r>
              <a:rPr lang="en-US" sz="175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 les </a:t>
            </a:r>
            <a:r>
              <a:rPr lang="en-US" sz="1750" err="1">
                <a:solidFill>
                  <a:srgbClr val="D4D4D1"/>
                </a:solidFill>
                <a:latin typeface="Roboto"/>
                <a:ea typeface="Roboto"/>
                <a:cs typeface="Roboto"/>
              </a:rPr>
              <a:t>failles</a:t>
            </a:r>
            <a:r>
              <a:rPr lang="en-US" sz="175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 de </a:t>
            </a:r>
            <a:r>
              <a:rPr lang="en-US" sz="1750" err="1">
                <a:solidFill>
                  <a:srgbClr val="D4D4D1"/>
                </a:solidFill>
                <a:latin typeface="Roboto"/>
                <a:ea typeface="Roboto"/>
                <a:cs typeface="Roboto"/>
              </a:rPr>
              <a:t>sécurit</a:t>
            </a:r>
            <a:r>
              <a:rPr lang="en-US" sz="175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é</a:t>
            </a:r>
            <a:endParaRPr lang="en-US" sz="1750">
              <a:ea typeface="Calibri"/>
              <a:cs typeface="Calibri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981" y="3503652"/>
            <a:ext cx="8284131" cy="22711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58679" y="4324324"/>
            <a:ext cx="1251825" cy="224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Identifier</a:t>
            </a:r>
            <a:endParaRPr lang="en-US" sz="1400"/>
          </a:p>
        </p:txBody>
      </p:sp>
      <p:sp>
        <p:nvSpPr>
          <p:cNvPr id="9" name="Text 6"/>
          <p:cNvSpPr/>
          <p:nvPr/>
        </p:nvSpPr>
        <p:spPr>
          <a:xfrm>
            <a:off x="6558679" y="4612221"/>
            <a:ext cx="1251825" cy="537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Repérer vulnérabilités système</a:t>
            </a:r>
            <a:endParaRPr lang="en-US" sz="1100"/>
          </a:p>
        </p:txBody>
      </p:sp>
      <p:sp>
        <p:nvSpPr>
          <p:cNvPr id="10" name="Text 7"/>
          <p:cNvSpPr/>
          <p:nvPr/>
        </p:nvSpPr>
        <p:spPr>
          <a:xfrm>
            <a:off x="8248200" y="4387084"/>
            <a:ext cx="1251825" cy="224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Renforcer</a:t>
            </a:r>
            <a:endParaRPr lang="en-US" sz="1400"/>
          </a:p>
        </p:txBody>
      </p:sp>
      <p:sp>
        <p:nvSpPr>
          <p:cNvPr id="11" name="Text 8"/>
          <p:cNvSpPr/>
          <p:nvPr/>
        </p:nvSpPr>
        <p:spPr>
          <a:xfrm>
            <a:off x="8248200" y="4674980"/>
            <a:ext cx="1251825" cy="35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Mettre à jour et durcir défenses</a:t>
            </a:r>
            <a:endParaRPr lang="en-US" sz="1100"/>
          </a:p>
        </p:txBody>
      </p:sp>
      <p:sp>
        <p:nvSpPr>
          <p:cNvPr id="12" name="Text 9"/>
          <p:cNvSpPr/>
          <p:nvPr/>
        </p:nvSpPr>
        <p:spPr>
          <a:xfrm>
            <a:off x="9969599" y="4324324"/>
            <a:ext cx="1251824" cy="224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Former</a:t>
            </a:r>
            <a:endParaRPr lang="en-US" sz="1400"/>
          </a:p>
        </p:txBody>
      </p:sp>
      <p:sp>
        <p:nvSpPr>
          <p:cNvPr id="13" name="Text 10"/>
          <p:cNvSpPr/>
          <p:nvPr/>
        </p:nvSpPr>
        <p:spPr>
          <a:xfrm>
            <a:off x="9969599" y="4612221"/>
            <a:ext cx="1251824" cy="537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00"/>
              </a:lnSpc>
            </a:pPr>
            <a:r>
              <a:rPr lang="en-US" sz="1100" err="1">
                <a:solidFill>
                  <a:srgbClr val="D4D4D1"/>
                </a:solidFill>
                <a:latin typeface="Roboto"/>
                <a:ea typeface="Roboto"/>
                <a:cs typeface="Roboto"/>
              </a:rPr>
              <a:t>Eduquer</a:t>
            </a:r>
            <a:r>
              <a:rPr lang="en-US" sz="110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 la population</a:t>
            </a:r>
          </a:p>
        </p:txBody>
      </p:sp>
      <p:sp>
        <p:nvSpPr>
          <p:cNvPr id="14" name="Text 11"/>
          <p:cNvSpPr/>
          <p:nvPr/>
        </p:nvSpPr>
        <p:spPr>
          <a:xfrm>
            <a:off x="11675059" y="4387084"/>
            <a:ext cx="1251825" cy="224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Surveiller</a:t>
            </a:r>
            <a:endParaRPr lang="en-US" sz="1400"/>
          </a:p>
        </p:txBody>
      </p:sp>
      <p:sp>
        <p:nvSpPr>
          <p:cNvPr id="15" name="Text 12"/>
          <p:cNvSpPr/>
          <p:nvPr/>
        </p:nvSpPr>
        <p:spPr>
          <a:xfrm>
            <a:off x="11675059" y="4674980"/>
            <a:ext cx="1251825" cy="35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Détecter incidents et répondre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37E52-612D-7C82-78AC-5DE0C0A80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2F38998-3A8F-2965-D796-2D33F8711DCC}"/>
              </a:ext>
            </a:extLst>
          </p:cNvPr>
          <p:cNvSpPr/>
          <p:nvPr/>
        </p:nvSpPr>
        <p:spPr>
          <a:xfrm>
            <a:off x="793790" y="1023342"/>
            <a:ext cx="101636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fr-FR" sz="4400" b="1">
                <a:solidFill>
                  <a:srgbClr val="F3F3F2"/>
                </a:solidFill>
                <a:latin typeface="Times New Roman"/>
                <a:cs typeface="Times New Roman"/>
              </a:rPr>
              <a:t>V-01 Injection SQL sur la connexion</a:t>
            </a:r>
            <a:endParaRPr lang="en-US" sz="4400">
              <a:solidFill>
                <a:srgbClr val="F3F3F2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93FCF72-B2D9-021E-E1A4-2C3EDB898C22}"/>
              </a:ext>
            </a:extLst>
          </p:cNvPr>
          <p:cNvSpPr/>
          <p:nvPr/>
        </p:nvSpPr>
        <p:spPr>
          <a:xfrm>
            <a:off x="6115455" y="25568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fr-FR" sz="2200" b="1">
                <a:solidFill>
                  <a:schemeClr val="bg1"/>
                </a:solidFill>
                <a:latin typeface="Times New Roman"/>
                <a:cs typeface="Times New Roman"/>
              </a:rPr>
              <a:t>Description: </a:t>
            </a:r>
            <a:endParaRPr lang="en-US" sz="22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3FC11A9-BBB1-B39F-56A2-BB6EDECA11F5}"/>
              </a:ext>
            </a:extLst>
          </p:cNvPr>
          <p:cNvSpPr/>
          <p:nvPr/>
        </p:nvSpPr>
        <p:spPr>
          <a:xfrm>
            <a:off x="6115455" y="3034323"/>
            <a:ext cx="7251344" cy="514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>
                <a:solidFill>
                  <a:srgbClr val="D4D4D1"/>
                </a:solidFill>
                <a:latin typeface="Roboto"/>
                <a:ea typeface="Roboto"/>
                <a:cs typeface="Roboto"/>
              </a:rPr>
              <a:t> La </a:t>
            </a:r>
            <a:r>
              <a:rPr lang="fr-FR" b="1">
                <a:solidFill>
                  <a:srgbClr val="D4D4D1"/>
                </a:solidFill>
                <a:latin typeface="Times New Roman"/>
                <a:ea typeface="Roboto"/>
                <a:cs typeface="Times New Roman"/>
              </a:rPr>
              <a:t>requête SQL d'authentification est construite par concaténation directe des variables </a:t>
            </a:r>
            <a:r>
              <a:rPr lang="fr-FR" b="1" err="1">
                <a:solidFill>
                  <a:srgbClr val="D4D4D1"/>
                </a:solidFill>
                <a:latin typeface="Roboto Mono"/>
                <a:ea typeface="Roboto Mono"/>
                <a:cs typeface="Roboto"/>
              </a:rPr>
              <a:t>username</a:t>
            </a:r>
            <a:r>
              <a:rPr lang="fr-FR" b="1">
                <a:solidFill>
                  <a:srgbClr val="D4D4D1"/>
                </a:solidFill>
                <a:latin typeface="Times New Roman"/>
                <a:ea typeface="Roboto"/>
                <a:cs typeface="Times New Roman"/>
              </a:rPr>
              <a:t> et </a:t>
            </a:r>
            <a:r>
              <a:rPr lang="fr-FR" b="1" err="1">
                <a:solidFill>
                  <a:srgbClr val="D4D4D1"/>
                </a:solidFill>
                <a:latin typeface="Roboto Mono"/>
                <a:ea typeface="Roboto Mono"/>
                <a:cs typeface="Roboto"/>
              </a:rPr>
              <a:t>password</a:t>
            </a:r>
            <a:r>
              <a:rPr lang="fr-FR" b="1">
                <a:solidFill>
                  <a:srgbClr val="D4D4D1"/>
                </a:solidFill>
                <a:latin typeface="Times New Roman"/>
                <a:ea typeface="Roboto"/>
                <a:cs typeface="Times New Roman"/>
              </a:rPr>
              <a:t> sans aucun nettoyage ni échappement.</a:t>
            </a:r>
            <a:r>
              <a:rPr lang="en-US">
                <a:solidFill>
                  <a:srgbClr val="D4D4D1"/>
                </a:solidFill>
                <a:latin typeface="Roboto"/>
                <a:ea typeface="Roboto"/>
                <a:cs typeface="Roboto"/>
              </a:rPr>
              <a:t>)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1A34143-BF12-F47C-373B-B67169F6DCC6}"/>
              </a:ext>
            </a:extLst>
          </p:cNvPr>
          <p:cNvSpPr/>
          <p:nvPr/>
        </p:nvSpPr>
        <p:spPr>
          <a:xfrm>
            <a:off x="6115455" y="48128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>
                <a:solidFill>
                  <a:srgbClr val="F3F3F2"/>
                </a:solidFill>
                <a:latin typeface="IBM Plex Sans Medium"/>
                <a:ea typeface="IBM Plex Sans Medium" pitchFamily="34" charset="-122"/>
                <a:cs typeface="IBM Plex Sans Medium" pitchFamily="34" charset="-120"/>
              </a:rPr>
              <a:t>Impact : </a:t>
            </a:r>
            <a:endParaRPr lang="en-US" sz="2200">
              <a:solidFill>
                <a:srgbClr val="F3F3F2"/>
              </a:solidFill>
              <a:latin typeface="IBM Plex Sans Medium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55DEB27-9D63-9C49-5760-3607154E0D4B}"/>
              </a:ext>
            </a:extLst>
          </p:cNvPr>
          <p:cNvSpPr/>
          <p:nvPr/>
        </p:nvSpPr>
        <p:spPr>
          <a:xfrm>
            <a:off x="6115455" y="5454920"/>
            <a:ext cx="6509456" cy="35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fr-FR" b="1">
                <a:solidFill>
                  <a:schemeClr val="bg2"/>
                </a:solidFill>
                <a:latin typeface="Times New Roman"/>
                <a:ea typeface="Roboto"/>
                <a:cs typeface="Times New Roman"/>
              </a:rPr>
              <a:t>Accès non autorisé à des comptes (dont admin), vol de données sensibles et destruction possible de la base de données</a:t>
            </a:r>
            <a:endParaRPr lang="en-US">
              <a:solidFill>
                <a:schemeClr val="bg2"/>
              </a:solidFill>
              <a:ea typeface="Calibri"/>
              <a:cs typeface="Calibri"/>
            </a:endParaRPr>
          </a:p>
        </p:txBody>
      </p:sp>
      <p:pic>
        <p:nvPicPr>
          <p:cNvPr id="8" name="Picture 7" descr="Tableau de base de données - Icônes ui gratuites">
            <a:extLst>
              <a:ext uri="{FF2B5EF4-FFF2-40B4-BE49-F238E27FC236}">
                <a16:creationId xmlns:a16="http://schemas.microsoft.com/office/drawing/2014/main" id="{ED9A9523-57DB-504E-96FC-CE8C62CD2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382" y="2482405"/>
            <a:ext cx="4069461" cy="405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416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F21DA-AAF2-F3F1-DCEC-2B37314F2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D519E55-CCD9-84EE-45EB-7473AA564EC6}"/>
              </a:ext>
            </a:extLst>
          </p:cNvPr>
          <p:cNvSpPr/>
          <p:nvPr/>
        </p:nvSpPr>
        <p:spPr>
          <a:xfrm>
            <a:off x="793790" y="1023342"/>
            <a:ext cx="101636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fr-FR" sz="4400" b="1">
                <a:solidFill>
                  <a:srgbClr val="F3F3F2"/>
                </a:solidFill>
                <a:latin typeface="Times New Roman"/>
                <a:cs typeface="Times New Roman"/>
              </a:rPr>
              <a:t>V-02-03-04 </a:t>
            </a:r>
            <a:r>
              <a:rPr lang="fr-FR" sz="4400" b="1">
                <a:solidFill>
                  <a:schemeClr val="bg1"/>
                </a:solidFill>
                <a:latin typeface="Times New Roman"/>
                <a:cs typeface="Times New Roman"/>
              </a:rPr>
              <a:t>XSS (Cross-Site Scripting)</a:t>
            </a:r>
            <a:endParaRPr lang="en-US" sz="440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E6D8966-63AC-2F8F-A9C0-9BE3E499BB97}"/>
              </a:ext>
            </a:extLst>
          </p:cNvPr>
          <p:cNvSpPr/>
          <p:nvPr/>
        </p:nvSpPr>
        <p:spPr>
          <a:xfrm>
            <a:off x="6651903" y="25568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fr-FR" sz="2200" b="1">
                <a:solidFill>
                  <a:schemeClr val="bg1"/>
                </a:solidFill>
                <a:latin typeface="Times New Roman"/>
                <a:cs typeface="Times New Roman"/>
              </a:rPr>
              <a:t>Description: </a:t>
            </a:r>
            <a:endParaRPr lang="en-US" sz="22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9BFA96C-8062-8964-C2C6-30D9242DA25C}"/>
              </a:ext>
            </a:extLst>
          </p:cNvPr>
          <p:cNvSpPr/>
          <p:nvPr/>
        </p:nvSpPr>
        <p:spPr>
          <a:xfrm>
            <a:off x="6651903" y="3058707"/>
            <a:ext cx="7251344" cy="514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L'application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utilise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la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propriété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</a:t>
            </a:r>
            <a:r>
              <a:rPr lang="en-US" b="1">
                <a:solidFill>
                  <a:srgbClr val="D4D4D1"/>
                </a:solidFill>
                <a:latin typeface="Consolas"/>
                <a:ea typeface="Roboto"/>
                <a:cs typeface="Roboto"/>
              </a:rPr>
              <a:t>.</a:t>
            </a:r>
            <a:r>
              <a:rPr lang="en-US" b="1" err="1">
                <a:solidFill>
                  <a:srgbClr val="D4D4D1"/>
                </a:solidFill>
                <a:latin typeface="Consolas"/>
                <a:ea typeface="Roboto"/>
                <a:cs typeface="Roboto"/>
              </a:rPr>
              <a:t>innerHTML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pour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afficher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les avis,</a:t>
            </a:r>
            <a:endParaRPr lang="en-US" b="1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lnSpc>
                <a:spcPts val="2850"/>
              </a:lnSpc>
            </a:pP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 les messages de contact et les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résultats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de recherche.</a:t>
            </a:r>
            <a:endParaRPr lang="en-US" b="1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lnSpc>
                <a:spcPts val="2850"/>
              </a:lnSpc>
            </a:pP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 Ce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mécanisme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force le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navigateur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à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interpréter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et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exécuter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n'importe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quelle</a:t>
            </a:r>
            <a:endParaRPr lang="en-US" b="1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lnSpc>
                <a:spcPts val="2850"/>
              </a:lnSpc>
            </a:pP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 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balise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HTML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ou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script JavaScript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injecté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dans les champs de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saisie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.</a:t>
            </a:r>
            <a:endParaRPr lang="en-US" b="1">
              <a:ea typeface="+mn-lt"/>
              <a:cs typeface="+mn-lt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256F96F-4298-CB1A-BC4D-BD5C3C44368F}"/>
              </a:ext>
            </a:extLst>
          </p:cNvPr>
          <p:cNvSpPr/>
          <p:nvPr/>
        </p:nvSpPr>
        <p:spPr>
          <a:xfrm>
            <a:off x="6651903" y="48615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>
                <a:solidFill>
                  <a:srgbClr val="F3F3F2"/>
                </a:solidFill>
                <a:latin typeface="IBM Plex Sans Medium"/>
                <a:ea typeface="IBM Plex Sans Medium" pitchFamily="34" charset="-122"/>
                <a:cs typeface="IBM Plex Sans Medium" pitchFamily="34" charset="-120"/>
              </a:rPr>
              <a:t>Impact : </a:t>
            </a:r>
            <a:endParaRPr lang="en-US" sz="2200">
              <a:solidFill>
                <a:srgbClr val="F3F3F2"/>
              </a:solidFill>
              <a:latin typeface="IBM Plex Sans Medium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E80E34B-4A8A-5B6F-18DD-CC2C3813498A}"/>
              </a:ext>
            </a:extLst>
          </p:cNvPr>
          <p:cNvSpPr/>
          <p:nvPr/>
        </p:nvSpPr>
        <p:spPr>
          <a:xfrm>
            <a:off x="6651903" y="5540264"/>
            <a:ext cx="6007652" cy="1844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fr-FR" b="1">
                <a:solidFill>
                  <a:schemeClr val="bg2"/>
                </a:solidFill>
                <a:ea typeface="+mn-lt"/>
                <a:cs typeface="+mn-lt"/>
              </a:rPr>
              <a:t>L'injection de scripts permet le vol de cookies de session, rendant </a:t>
            </a:r>
            <a:endParaRPr lang="en-US" b="1">
              <a:solidFill>
                <a:schemeClr val="bg2"/>
              </a:solidFill>
              <a:ea typeface="+mn-lt"/>
              <a:cs typeface="+mn-lt"/>
            </a:endParaRPr>
          </a:p>
          <a:p>
            <a:pPr>
              <a:lnSpc>
                <a:spcPts val="2850"/>
              </a:lnSpc>
            </a:pPr>
            <a:r>
              <a:rPr lang="fr-FR" b="1">
                <a:solidFill>
                  <a:schemeClr val="bg2"/>
                </a:solidFill>
                <a:ea typeface="+mn-lt"/>
                <a:cs typeface="+mn-lt"/>
              </a:rPr>
              <a:t>l'authentification inopérante. Les utilisateurs peuvent être</a:t>
            </a:r>
            <a:endParaRPr lang="en-US" b="1">
              <a:solidFill>
                <a:schemeClr val="bg2"/>
              </a:solidFill>
              <a:ea typeface="+mn-lt"/>
              <a:cs typeface="+mn-lt"/>
            </a:endParaRPr>
          </a:p>
          <a:p>
            <a:pPr>
              <a:lnSpc>
                <a:spcPts val="2850"/>
              </a:lnSpc>
            </a:pPr>
            <a:r>
              <a:rPr lang="fr-FR" b="1">
                <a:solidFill>
                  <a:schemeClr val="bg2"/>
                </a:solidFill>
                <a:ea typeface="+mn-lt"/>
                <a:cs typeface="+mn-lt"/>
              </a:rPr>
              <a:t> redirigés vers des sites frauduleux (phishing) ou subir </a:t>
            </a:r>
            <a:endParaRPr lang="en-US" b="1">
              <a:solidFill>
                <a:schemeClr val="bg2"/>
              </a:solidFill>
              <a:ea typeface="+mn-lt"/>
              <a:cs typeface="+mn-lt"/>
            </a:endParaRPr>
          </a:p>
          <a:p>
            <a:pPr>
              <a:lnSpc>
                <a:spcPts val="2850"/>
              </a:lnSpc>
            </a:pPr>
            <a:r>
              <a:rPr lang="fr-FR" b="1">
                <a:solidFill>
                  <a:schemeClr val="bg2"/>
                </a:solidFill>
                <a:ea typeface="+mn-lt"/>
                <a:cs typeface="+mn-lt"/>
              </a:rPr>
              <a:t>des modifications malveillantes de l'interface visuelle du site.</a:t>
            </a:r>
            <a:endParaRPr lang="en-US" b="1">
              <a:solidFill>
                <a:schemeClr val="bg2"/>
              </a:solidFill>
              <a:ea typeface="Calibri"/>
              <a:cs typeface="Calibri"/>
            </a:endParaRPr>
          </a:p>
        </p:txBody>
      </p:sp>
      <p:pic>
        <p:nvPicPr>
          <p:cNvPr id="3" name="Picture 2" descr="What is Cross-site Scripting (XSS) and how can you fix it? - Blog Detectify">
            <a:extLst>
              <a:ext uri="{FF2B5EF4-FFF2-40B4-BE49-F238E27FC236}">
                <a16:creationId xmlns:a16="http://schemas.microsoft.com/office/drawing/2014/main" id="{47A0BDF8-B077-09AD-F7A3-AE8124A3E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178" y="2552510"/>
            <a:ext cx="5996940" cy="3721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833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EFC74-520C-A0EC-987D-89F22234F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916161C-441B-ABD9-A7CD-926A0579BA2B}"/>
              </a:ext>
            </a:extLst>
          </p:cNvPr>
          <p:cNvSpPr/>
          <p:nvPr/>
        </p:nvSpPr>
        <p:spPr>
          <a:xfrm>
            <a:off x="793790" y="1023342"/>
            <a:ext cx="101636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fr-FR" sz="4400" b="1">
                <a:solidFill>
                  <a:srgbClr val="F3F3F2"/>
                </a:solidFill>
                <a:latin typeface="Times New Roman"/>
                <a:cs typeface="Times New Roman"/>
              </a:rPr>
              <a:t>V-05-06 Buffer </a:t>
            </a:r>
            <a:r>
              <a:rPr lang="fr-FR" sz="4400" b="1" err="1">
                <a:solidFill>
                  <a:srgbClr val="F3F3F2"/>
                </a:solidFill>
                <a:latin typeface="Times New Roman"/>
                <a:cs typeface="Times New Roman"/>
              </a:rPr>
              <a:t>Overflow</a:t>
            </a:r>
            <a:r>
              <a:rPr lang="fr-FR" sz="4400" b="1">
                <a:solidFill>
                  <a:srgbClr val="F3F3F2"/>
                </a:solidFill>
                <a:latin typeface="Times New Roman"/>
                <a:cs typeface="Times New Roman"/>
              </a:rPr>
              <a:t>(</a:t>
            </a:r>
            <a:r>
              <a:rPr lang="fr-FR" sz="4400" b="1" err="1">
                <a:solidFill>
                  <a:srgbClr val="F3F3F2"/>
                </a:solidFill>
                <a:latin typeface="Times New Roman"/>
                <a:cs typeface="Times New Roman"/>
              </a:rPr>
              <a:t>strcpy,scanf</a:t>
            </a:r>
            <a:r>
              <a:rPr lang="fr-FR" sz="4400" b="1">
                <a:solidFill>
                  <a:srgbClr val="F3F3F2"/>
                </a:solidFill>
                <a:latin typeface="Times New Roman"/>
                <a:cs typeface="Times New Roman"/>
              </a:rPr>
              <a:t>)</a:t>
            </a:r>
            <a:endParaRPr lang="fr-FR" sz="4400" b="1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35D880A-2CFB-7790-EE35-97C7FA18773D}"/>
              </a:ext>
            </a:extLst>
          </p:cNvPr>
          <p:cNvSpPr/>
          <p:nvPr/>
        </p:nvSpPr>
        <p:spPr>
          <a:xfrm>
            <a:off x="6651903" y="25568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fr-FR" sz="2200" b="1">
                <a:solidFill>
                  <a:schemeClr val="bg1"/>
                </a:solidFill>
                <a:latin typeface="Times New Roman"/>
                <a:cs typeface="Times New Roman"/>
              </a:rPr>
              <a:t>Description: </a:t>
            </a:r>
            <a:endParaRPr lang="en-US" sz="22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18765A1-FF06-5C52-5297-0C26FC374301}"/>
              </a:ext>
            </a:extLst>
          </p:cNvPr>
          <p:cNvSpPr/>
          <p:nvPr/>
        </p:nvSpPr>
        <p:spPr>
          <a:xfrm>
            <a:off x="6651903" y="3058707"/>
            <a:ext cx="7251344" cy="514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Le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programme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utilise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les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fonctions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</a:t>
            </a:r>
            <a:r>
              <a:rPr lang="en-US" b="1" err="1">
                <a:solidFill>
                  <a:srgbClr val="D4D4D1"/>
                </a:solidFill>
                <a:latin typeface="Consolas"/>
                <a:ea typeface="+mn-lt"/>
                <a:cs typeface="+mn-lt"/>
              </a:rPr>
              <a:t>strcpy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et </a:t>
            </a:r>
            <a:r>
              <a:rPr lang="en-US" b="1" err="1">
                <a:solidFill>
                  <a:srgbClr val="D4D4D1"/>
                </a:solidFill>
                <a:latin typeface="Consolas"/>
                <a:ea typeface="+mn-lt"/>
                <a:cs typeface="+mn-lt"/>
              </a:rPr>
              <a:t>scanf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pour copier des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chaînes</a:t>
            </a:r>
            <a:endParaRPr lang="en-US" b="1" err="1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lnSpc>
                <a:spcPts val="2850"/>
              </a:lnSpc>
            </a:pP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 de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caractères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dans des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espaces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mémoires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fixes de 50 octets.</a:t>
            </a:r>
            <a:endParaRPr lang="en-US" b="1">
              <a:ea typeface="+mn-lt"/>
              <a:cs typeface="+mn-lt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E415BF2-1336-D56B-1C22-12123539DD8A}"/>
              </a:ext>
            </a:extLst>
          </p:cNvPr>
          <p:cNvSpPr/>
          <p:nvPr/>
        </p:nvSpPr>
        <p:spPr>
          <a:xfrm>
            <a:off x="6651903" y="44226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>
                <a:solidFill>
                  <a:srgbClr val="F3F3F2"/>
                </a:solidFill>
                <a:latin typeface="IBM Plex Sans Medium"/>
                <a:ea typeface="IBM Plex Sans Medium" pitchFamily="34" charset="-122"/>
                <a:cs typeface="IBM Plex Sans Medium" pitchFamily="34" charset="-120"/>
              </a:rPr>
              <a:t>Impact : </a:t>
            </a:r>
            <a:endParaRPr lang="en-US" sz="2200">
              <a:solidFill>
                <a:srgbClr val="F3F3F2"/>
              </a:solidFill>
              <a:latin typeface="IBM Plex Sans Medium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F7F597E-6CDB-8294-9A4E-3B31137B845A}"/>
              </a:ext>
            </a:extLst>
          </p:cNvPr>
          <p:cNvSpPr/>
          <p:nvPr/>
        </p:nvSpPr>
        <p:spPr>
          <a:xfrm>
            <a:off x="6651903" y="4991624"/>
            <a:ext cx="6509456" cy="35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fr-FR" b="1">
                <a:solidFill>
                  <a:schemeClr val="bg2"/>
                </a:solidFill>
                <a:ea typeface="+mn-lt"/>
                <a:cs typeface="+mn-lt"/>
              </a:rPr>
              <a:t>Le débordement de mémoire provoque l'arrêt immédiat du programme (Crash),</a:t>
            </a:r>
            <a:endParaRPr lang="en-US" b="1">
              <a:solidFill>
                <a:schemeClr val="bg2"/>
              </a:solidFill>
              <a:ea typeface="+mn-lt"/>
              <a:cs typeface="+mn-lt"/>
            </a:endParaRPr>
          </a:p>
          <a:p>
            <a:pPr>
              <a:lnSpc>
                <a:spcPts val="2850"/>
              </a:lnSpc>
            </a:pPr>
            <a:r>
              <a:rPr lang="fr-FR" b="1">
                <a:solidFill>
                  <a:schemeClr val="bg2"/>
                </a:solidFill>
                <a:ea typeface="+mn-lt"/>
                <a:cs typeface="+mn-lt"/>
              </a:rPr>
              <a:t> nuisant à la disponibilité du service. Un attaquant expérimenté </a:t>
            </a:r>
            <a:endParaRPr lang="en-US" b="1">
              <a:solidFill>
                <a:schemeClr val="bg2"/>
              </a:solidFill>
              <a:ea typeface="+mn-lt"/>
              <a:cs typeface="+mn-lt"/>
            </a:endParaRPr>
          </a:p>
          <a:p>
            <a:pPr>
              <a:lnSpc>
                <a:spcPts val="2850"/>
              </a:lnSpc>
            </a:pPr>
            <a:r>
              <a:rPr lang="fr-FR" b="1">
                <a:solidFill>
                  <a:schemeClr val="bg2"/>
                </a:solidFill>
                <a:ea typeface="+mn-lt"/>
                <a:cs typeface="+mn-lt"/>
              </a:rPr>
              <a:t>peut détourner ce bug pour écraser la pile d'exécution et forcer le serveur à </a:t>
            </a:r>
            <a:endParaRPr lang="en-US" b="1">
              <a:solidFill>
                <a:schemeClr val="bg2"/>
              </a:solidFill>
              <a:ea typeface="+mn-lt"/>
              <a:cs typeface="+mn-lt"/>
            </a:endParaRPr>
          </a:p>
          <a:p>
            <a:pPr>
              <a:lnSpc>
                <a:spcPts val="2850"/>
              </a:lnSpc>
            </a:pPr>
            <a:r>
              <a:rPr lang="fr-FR" b="1">
                <a:solidFill>
                  <a:schemeClr val="bg2"/>
                </a:solidFill>
                <a:ea typeface="+mn-lt"/>
                <a:cs typeface="+mn-lt"/>
              </a:rPr>
              <a:t>lancer des commandes malveillantes à distance.</a:t>
            </a:r>
            <a:endParaRPr lang="en-US" b="1">
              <a:solidFill>
                <a:schemeClr val="bg2"/>
              </a:solidFill>
              <a:ea typeface="+mn-lt"/>
              <a:cs typeface="+mn-lt"/>
            </a:endParaRPr>
          </a:p>
        </p:txBody>
      </p:sp>
      <p:pic>
        <p:nvPicPr>
          <p:cNvPr id="8" name="Picture 7" descr="Buffer Overflow Attacks: Types and Prevention Strategies">
            <a:extLst>
              <a:ext uri="{FF2B5EF4-FFF2-40B4-BE49-F238E27FC236}">
                <a16:creationId xmlns:a16="http://schemas.microsoft.com/office/drawing/2014/main" id="{37483930-6871-3659-226B-869C10169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45" y="3131248"/>
            <a:ext cx="5403342" cy="294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7284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20874-6287-1DF2-8CFD-F56D75B60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2C839B4-84CF-D194-581B-87CB6BCF2390}"/>
              </a:ext>
            </a:extLst>
          </p:cNvPr>
          <p:cNvSpPr/>
          <p:nvPr/>
        </p:nvSpPr>
        <p:spPr>
          <a:xfrm>
            <a:off x="793790" y="1023342"/>
            <a:ext cx="101636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fr-FR" sz="4400" b="1">
                <a:solidFill>
                  <a:srgbClr val="F3F3F2"/>
                </a:solidFill>
                <a:latin typeface="Times New Roman"/>
                <a:cs typeface="Times New Roman"/>
              </a:rPr>
              <a:t>V-07 Absence de validation des entrées</a:t>
            </a:r>
            <a:endParaRPr lang="fr-FR" sz="4400" b="1">
              <a:solidFill>
                <a:srgbClr val="F3F3F2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301F07A-FC45-CAF5-C795-4F21FE0A3A61}"/>
              </a:ext>
            </a:extLst>
          </p:cNvPr>
          <p:cNvSpPr/>
          <p:nvPr/>
        </p:nvSpPr>
        <p:spPr>
          <a:xfrm>
            <a:off x="6651903" y="25568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fr-FR" sz="2200" b="1">
                <a:solidFill>
                  <a:schemeClr val="bg1"/>
                </a:solidFill>
                <a:latin typeface="Times New Roman"/>
                <a:cs typeface="Times New Roman"/>
              </a:rPr>
              <a:t>Description: </a:t>
            </a:r>
            <a:endParaRPr lang="en-US" sz="22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2195201-BA75-3A56-5C89-5BA667B20887}"/>
              </a:ext>
            </a:extLst>
          </p:cNvPr>
          <p:cNvSpPr/>
          <p:nvPr/>
        </p:nvSpPr>
        <p:spPr>
          <a:xfrm>
            <a:off x="6651903" y="3058707"/>
            <a:ext cx="7251344" cy="514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Le champ de recherche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accepte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tous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les types de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caractères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spéciaux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(</a:t>
            </a:r>
            <a:r>
              <a:rPr lang="en-US" b="1">
                <a:solidFill>
                  <a:srgbClr val="D4D4D1"/>
                </a:solidFill>
                <a:latin typeface="Consolas"/>
                <a:ea typeface="+mn-lt"/>
                <a:cs typeface="+mn-lt"/>
              </a:rPr>
              <a:t>' ; &lt; &gt;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)</a:t>
            </a:r>
            <a:endParaRPr lang="en-US" b="1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lnSpc>
                <a:spcPts val="2850"/>
              </a:lnSpc>
            </a:pP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 et des longueurs de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texte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illimitées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sans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aucun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filtrage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.</a:t>
            </a:r>
            <a:endParaRPr lang="en-US" b="1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lnSpc>
                <a:spcPts val="2850"/>
              </a:lnSpc>
            </a:pP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 Cette absence de validation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préalable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sert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de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vecteur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de transmission</a:t>
            </a:r>
            <a:endParaRPr lang="en-US" b="1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lnSpc>
                <a:spcPts val="2850"/>
              </a:lnSpc>
            </a:pP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 pour les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attaques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par injection SQL, XSS et saturation.</a:t>
            </a:r>
            <a:endParaRPr lang="en-US" b="1">
              <a:ea typeface="+mn-lt"/>
              <a:cs typeface="+mn-lt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5E98FBE-C6D5-8401-91C8-21B858A0BEE3}"/>
              </a:ext>
            </a:extLst>
          </p:cNvPr>
          <p:cNvSpPr/>
          <p:nvPr/>
        </p:nvSpPr>
        <p:spPr>
          <a:xfrm>
            <a:off x="6651903" y="49347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>
                <a:solidFill>
                  <a:srgbClr val="F3F3F2"/>
                </a:solidFill>
                <a:latin typeface="IBM Plex Sans Medium"/>
                <a:ea typeface="IBM Plex Sans Medium" pitchFamily="34" charset="-122"/>
                <a:cs typeface="IBM Plex Sans Medium" pitchFamily="34" charset="-120"/>
              </a:rPr>
              <a:t>Impact : </a:t>
            </a:r>
            <a:endParaRPr lang="en-US" sz="2200">
              <a:solidFill>
                <a:srgbClr val="F3F3F2"/>
              </a:solidFill>
              <a:latin typeface="IBM Plex Sans Medium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1EF8BB8-4BA2-2BBD-7AAC-6EB543CA5DA7}"/>
              </a:ext>
            </a:extLst>
          </p:cNvPr>
          <p:cNvSpPr/>
          <p:nvPr/>
        </p:nvSpPr>
        <p:spPr>
          <a:xfrm>
            <a:off x="6651903" y="5442728"/>
            <a:ext cx="6509456" cy="35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fr-FR" b="1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Agit comme un vecteur facilitant pour les injections SQL et XSS. </a:t>
            </a:r>
            <a:endParaRPr lang="en-US" b="1">
              <a:solidFill>
                <a:schemeClr val="bg2"/>
              </a:solidFill>
              <a:latin typeface="Times New Roman"/>
              <a:ea typeface="+mn-lt"/>
              <a:cs typeface="Times New Roman"/>
            </a:endParaRPr>
          </a:p>
          <a:p>
            <a:pPr>
              <a:lnSpc>
                <a:spcPts val="2850"/>
              </a:lnSpc>
            </a:pPr>
            <a:r>
              <a:rPr lang="fr-FR" b="1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Permet également l'envoi de requêtes excessivement lourdes.</a:t>
            </a:r>
            <a:endParaRPr lang="en-US" b="1">
              <a:solidFill>
                <a:schemeClr val="bg2"/>
              </a:solidFill>
              <a:latin typeface="Times New Roman"/>
              <a:cs typeface="Times New Roman"/>
            </a:endParaRPr>
          </a:p>
        </p:txBody>
      </p:sp>
      <p:pic>
        <p:nvPicPr>
          <p:cNvPr id="3" name="Picture 2" descr="Failles de sécurité - Le Top 10 des failles à surveiller">
            <a:extLst>
              <a:ext uri="{FF2B5EF4-FFF2-40B4-BE49-F238E27FC236}">
                <a16:creationId xmlns:a16="http://schemas.microsoft.com/office/drawing/2014/main" id="{EBC3C870-070A-1938-A2A1-8D40354569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92" y="2475167"/>
            <a:ext cx="6033135" cy="391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266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E3EF9-9DF7-3354-A497-8E508ED52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DD0E47-D93F-5265-FC04-CCA15ADD8FEA}"/>
              </a:ext>
            </a:extLst>
          </p:cNvPr>
          <p:cNvSpPr/>
          <p:nvPr/>
        </p:nvSpPr>
        <p:spPr>
          <a:xfrm>
            <a:off x="793790" y="1023342"/>
            <a:ext cx="101636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fr-FR" sz="4400" b="1">
                <a:solidFill>
                  <a:srgbClr val="F3F3F2"/>
                </a:solidFill>
                <a:latin typeface="Times New Roman"/>
                <a:cs typeface="Times New Roman"/>
              </a:rPr>
              <a:t>V-08 Absence de contrôle d'accès</a:t>
            </a:r>
            <a:endParaRPr lang="fr-FR" sz="4400" b="1">
              <a:solidFill>
                <a:srgbClr val="F3F3F2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8F09432-6B16-1FD0-B202-980554095497}"/>
              </a:ext>
            </a:extLst>
          </p:cNvPr>
          <p:cNvSpPr/>
          <p:nvPr/>
        </p:nvSpPr>
        <p:spPr>
          <a:xfrm>
            <a:off x="6651903" y="25568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fr-FR" sz="2200" b="1">
                <a:solidFill>
                  <a:schemeClr val="bg1"/>
                </a:solidFill>
                <a:latin typeface="Times New Roman"/>
                <a:cs typeface="Times New Roman"/>
              </a:rPr>
              <a:t>Description: </a:t>
            </a:r>
            <a:endParaRPr lang="en-US" sz="22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4247D79-D105-0295-863F-639BE132896A}"/>
              </a:ext>
            </a:extLst>
          </p:cNvPr>
          <p:cNvSpPr/>
          <p:nvPr/>
        </p:nvSpPr>
        <p:spPr>
          <a:xfrm>
            <a:off x="6651903" y="3058707"/>
            <a:ext cx="7251344" cy="514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Les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identifiants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, mots de passe et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rôles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des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utilisateurs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sont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stockés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en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clair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dans</a:t>
            </a:r>
            <a:endParaRPr lang="en-US" b="1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lnSpc>
                <a:spcPts val="2850"/>
              </a:lnSpc>
            </a:pP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 un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objet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JavaScript (</a:t>
            </a:r>
            <a:r>
              <a:rPr lang="en-US" b="1" err="1">
                <a:solidFill>
                  <a:srgbClr val="D4D4D1"/>
                </a:solidFill>
                <a:latin typeface="Consolas"/>
                <a:ea typeface="+mn-lt"/>
                <a:cs typeface="+mn-lt"/>
              </a:rPr>
              <a:t>fakeDB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)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côté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client.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L'intégralité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de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ces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données</a:t>
            </a:r>
            <a:endParaRPr lang="en-US" b="1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lnSpc>
                <a:spcPts val="2850"/>
              </a:lnSpc>
            </a:pP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 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confidentielles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 est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chargée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dans le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navigateur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du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visiteur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, les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rendant</a:t>
            </a:r>
            <a:endParaRPr lang="en-US" b="1" err="1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lnSpc>
                <a:spcPts val="2850"/>
              </a:lnSpc>
            </a:pP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 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accessibles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via </a:t>
            </a:r>
            <a:r>
              <a:rPr lang="en-US" b="1" err="1">
                <a:solidFill>
                  <a:srgbClr val="D4D4D1"/>
                </a:solidFill>
                <a:ea typeface="+mn-lt"/>
                <a:cs typeface="+mn-lt"/>
              </a:rPr>
              <a:t>une</a:t>
            </a:r>
            <a:r>
              <a:rPr lang="en-US" b="1">
                <a:solidFill>
                  <a:srgbClr val="D4D4D1"/>
                </a:solidFill>
                <a:ea typeface="+mn-lt"/>
                <a:cs typeface="+mn-lt"/>
              </a:rPr>
              <a:t> simple inspection du code source.</a:t>
            </a:r>
            <a:endParaRPr lang="en-US" b="1">
              <a:ea typeface="+mn-lt"/>
              <a:cs typeface="+mn-lt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09AA712-FF58-54CE-6B98-16E7743C2C66}"/>
              </a:ext>
            </a:extLst>
          </p:cNvPr>
          <p:cNvSpPr/>
          <p:nvPr/>
        </p:nvSpPr>
        <p:spPr>
          <a:xfrm>
            <a:off x="6651903" y="49347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>
                <a:solidFill>
                  <a:srgbClr val="F3F3F2"/>
                </a:solidFill>
                <a:latin typeface="IBM Plex Sans Medium"/>
                <a:ea typeface="IBM Plex Sans Medium" pitchFamily="34" charset="-122"/>
                <a:cs typeface="IBM Plex Sans Medium" pitchFamily="34" charset="-120"/>
              </a:rPr>
              <a:t>Impact : </a:t>
            </a:r>
            <a:endParaRPr lang="en-US" sz="2200">
              <a:solidFill>
                <a:srgbClr val="F3F3F2"/>
              </a:solidFill>
              <a:latin typeface="IBM Plex Sans Medium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235DFD1-C16C-7D28-67AF-8496E985F901}"/>
              </a:ext>
            </a:extLst>
          </p:cNvPr>
          <p:cNvSpPr/>
          <p:nvPr/>
        </p:nvSpPr>
        <p:spPr>
          <a:xfrm>
            <a:off x="6651903" y="5442728"/>
            <a:ext cx="6509456" cy="35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fr-FR" b="1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Confidentialité nulle. N'importe quel utilisateur peut inspecter le code</a:t>
            </a:r>
          </a:p>
          <a:p>
            <a:pPr>
              <a:lnSpc>
                <a:spcPts val="2850"/>
              </a:lnSpc>
            </a:pPr>
            <a:r>
              <a:rPr lang="fr-FR" b="1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 source pour voir la liste des comptes ou accéder aux formulaires</a:t>
            </a:r>
          </a:p>
          <a:p>
            <a:pPr>
              <a:lnSpc>
                <a:spcPts val="2850"/>
              </a:lnSpc>
            </a:pPr>
            <a:r>
              <a:rPr lang="fr-FR" b="1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 normalement protégés.</a:t>
            </a:r>
            <a:endParaRPr lang="fr-FR" b="1">
              <a:solidFill>
                <a:schemeClr val="bg2"/>
              </a:solidFill>
              <a:latin typeface="Times New Roman"/>
              <a:cs typeface="Times New Roman"/>
            </a:endParaRPr>
          </a:p>
        </p:txBody>
      </p:sp>
      <p:pic>
        <p:nvPicPr>
          <p:cNvPr id="9" name="Picture 8" descr="Contrôle d'accès à Internet en entreprise : le guide - TitanHQ">
            <a:extLst>
              <a:ext uri="{FF2B5EF4-FFF2-40B4-BE49-F238E27FC236}">
                <a16:creationId xmlns:a16="http://schemas.microsoft.com/office/drawing/2014/main" id="{47BA1C4A-7215-4C1B-02B9-2DFEB2B76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766" y="2914079"/>
            <a:ext cx="5055108" cy="3303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329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28E9F-4E5E-D97A-9961-7F6997E58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E2DBA7F-E365-AD36-5C58-5D71B21C51EC}"/>
              </a:ext>
            </a:extLst>
          </p:cNvPr>
          <p:cNvSpPr/>
          <p:nvPr/>
        </p:nvSpPr>
        <p:spPr>
          <a:xfrm>
            <a:off x="5170718" y="535662"/>
            <a:ext cx="101636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fr-FR" sz="6600" b="1">
                <a:solidFill>
                  <a:srgbClr val="F3F3F2"/>
                </a:solidFill>
                <a:latin typeface="Times New Roman"/>
                <a:ea typeface="Calibri"/>
                <a:cs typeface="Times New Roman"/>
              </a:rPr>
              <a:t>Conclusion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61CF11F-6AFF-B1F6-CA1A-2B7AA36DDEB2}"/>
              </a:ext>
            </a:extLst>
          </p:cNvPr>
          <p:cNvSpPr/>
          <p:nvPr/>
        </p:nvSpPr>
        <p:spPr>
          <a:xfrm>
            <a:off x="1055775" y="2373987"/>
            <a:ext cx="4688419" cy="183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fr-FR" sz="4400" b="1">
                <a:solidFill>
                  <a:schemeClr val="bg1"/>
                </a:solidFill>
                <a:latin typeface="Times New Roman"/>
                <a:cs typeface="Times New Roman"/>
              </a:rPr>
              <a:t>Bilan </a:t>
            </a:r>
            <a:r>
              <a:rPr lang="fr-FR" sz="4400" b="1" err="1">
                <a:solidFill>
                  <a:schemeClr val="bg1"/>
                </a:solidFill>
                <a:latin typeface="Times New Roman"/>
                <a:cs typeface="Times New Roman"/>
              </a:rPr>
              <a:t>Vulnérabilté</a:t>
            </a:r>
            <a:r>
              <a:rPr lang="fr-FR" sz="4400" b="1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</a:p>
          <a:p>
            <a:pPr>
              <a:lnSpc>
                <a:spcPts val="2750"/>
              </a:lnSpc>
            </a:pPr>
            <a:endParaRPr lang="fr-FR" sz="4400" b="1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  <a:p>
            <a:pPr>
              <a:lnSpc>
                <a:spcPts val="2750"/>
              </a:lnSpc>
            </a:pPr>
            <a:endParaRPr lang="fr-FR" sz="4400" b="1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86399CD-AA96-8AFD-7444-DB5E85201C55}"/>
              </a:ext>
            </a:extLst>
          </p:cNvPr>
          <p:cNvSpPr/>
          <p:nvPr/>
        </p:nvSpPr>
        <p:spPr>
          <a:xfrm>
            <a:off x="8700159" y="23744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4400" b="1">
                <a:solidFill>
                  <a:srgbClr val="F3F3F2"/>
                </a:solidFill>
                <a:ea typeface="+mn-lt"/>
                <a:cs typeface="+mn-lt"/>
              </a:rPr>
              <a:t>S</a:t>
            </a:r>
            <a:r>
              <a:rPr lang="en-US" sz="4400" b="1">
                <a:solidFill>
                  <a:srgbClr val="F3F3F2"/>
                </a:solidFill>
                <a:latin typeface="Times New Roman"/>
                <a:ea typeface="+mn-lt"/>
                <a:cs typeface="Times New Roman"/>
              </a:rPr>
              <a:t>olutions </a:t>
            </a:r>
            <a:r>
              <a:rPr lang="en-US" sz="4400" b="1" err="1">
                <a:solidFill>
                  <a:srgbClr val="F3F3F2"/>
                </a:solidFill>
                <a:latin typeface="Times New Roman"/>
                <a:ea typeface="+mn-lt"/>
                <a:cs typeface="Times New Roman"/>
              </a:rPr>
              <a:t>apportées</a:t>
            </a:r>
            <a:endParaRPr lang="en-US" sz="4400" b="1" err="1">
              <a:solidFill>
                <a:srgbClr val="F3F3F2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CA82CE-CF2F-8133-201F-72B3C6EFD6E2}"/>
              </a:ext>
            </a:extLst>
          </p:cNvPr>
          <p:cNvSpPr txBox="1"/>
          <p:nvPr/>
        </p:nvSpPr>
        <p:spPr>
          <a:xfrm>
            <a:off x="1182624" y="3230880"/>
            <a:ext cx="4169664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 algn="l">
              <a:buFont typeface="Calibri"/>
              <a:buChar char="-"/>
            </a:pPr>
            <a:r>
              <a:rPr lang="en-US" sz="2800" err="1">
                <a:solidFill>
                  <a:schemeClr val="bg2"/>
                </a:solidFill>
              </a:rPr>
              <a:t>Fuite</a:t>
            </a:r>
            <a:r>
              <a:rPr lang="en-US" sz="2800">
                <a:solidFill>
                  <a:schemeClr val="bg2"/>
                </a:solidFill>
              </a:rPr>
              <a:t> de données et Injection SQL.</a:t>
            </a:r>
          </a:p>
          <a:p>
            <a:pPr marL="457200" indent="-457200">
              <a:buFont typeface="Calibri"/>
              <a:buChar char="-"/>
            </a:pPr>
            <a:r>
              <a:rPr lang="en-US" sz="2800" err="1">
                <a:solidFill>
                  <a:schemeClr val="bg2"/>
                </a:solidFill>
                <a:ea typeface="+mn-lt"/>
                <a:cs typeface="+mn-lt"/>
              </a:rPr>
              <a:t>Failles</a:t>
            </a:r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 XSS et Buffer Overflows.</a:t>
            </a:r>
          </a:p>
          <a:p>
            <a:pPr marL="457200" indent="-457200">
              <a:buFont typeface="Calibri"/>
              <a:buChar char="-"/>
            </a:pPr>
            <a:r>
              <a:rPr lang="en-US" sz="2800" err="1">
                <a:solidFill>
                  <a:schemeClr val="bg2"/>
                </a:solidFill>
                <a:ea typeface="+mn-lt"/>
                <a:cs typeface="+mn-lt"/>
              </a:rPr>
              <a:t>Défaut</a:t>
            </a:r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 de validation des entrées.</a:t>
            </a:r>
            <a:endParaRPr lang="en-US" sz="2800">
              <a:solidFill>
                <a:schemeClr val="bg2"/>
              </a:solidFill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CD053B-3FC4-D76C-B364-5CA818BA4E28}"/>
              </a:ext>
            </a:extLst>
          </p:cNvPr>
          <p:cNvSpPr txBox="1"/>
          <p:nvPr/>
        </p:nvSpPr>
        <p:spPr>
          <a:xfrm>
            <a:off x="8814816" y="3230880"/>
            <a:ext cx="4267200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Migration des données et </a:t>
            </a:r>
            <a:r>
              <a:rPr lang="en-US" sz="2800" dirty="0" err="1">
                <a:solidFill>
                  <a:schemeClr val="bg2"/>
                </a:solidFill>
                <a:ea typeface="+mn-lt"/>
                <a:cs typeface="+mn-lt"/>
              </a:rPr>
              <a:t>authentification</a:t>
            </a: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.</a:t>
            </a:r>
          </a:p>
          <a:p>
            <a:pPr marL="342900" indent="-342900">
              <a:buFont typeface="Calibri"/>
              <a:buChar char="-"/>
            </a:pP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chemeClr val="bg2"/>
                </a:solidFill>
                <a:latin typeface="Consolas"/>
                <a:ea typeface="Calibri"/>
                <a:cs typeface="Calibri"/>
              </a:rPr>
              <a:t>textContent</a:t>
            </a: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.</a:t>
            </a:r>
          </a:p>
          <a:p>
            <a:pPr marL="342900" indent="-342900">
              <a:buFont typeface="Calibri"/>
              <a:buChar char="-"/>
            </a:pP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Validation </a:t>
            </a:r>
            <a:r>
              <a:rPr lang="en-US" sz="2800" dirty="0" err="1">
                <a:solidFill>
                  <a:schemeClr val="bg2"/>
                </a:solidFill>
                <a:ea typeface="+mn-lt"/>
                <a:cs typeface="+mn-lt"/>
              </a:rPr>
              <a:t>stricte</a:t>
            </a: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 et </a:t>
            </a:r>
            <a:r>
              <a:rPr lang="en-US" sz="2800" dirty="0" err="1">
                <a:solidFill>
                  <a:schemeClr val="bg2"/>
                </a:solidFill>
                <a:ea typeface="+mn-lt"/>
                <a:cs typeface="+mn-lt"/>
              </a:rPr>
              <a:t>limites</a:t>
            </a: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 de </a:t>
            </a:r>
            <a:r>
              <a:rPr lang="en-US" sz="2800" dirty="0" err="1">
                <a:solidFill>
                  <a:schemeClr val="bg2"/>
                </a:solidFill>
                <a:ea typeface="+mn-lt"/>
                <a:cs typeface="+mn-lt"/>
              </a:rPr>
              <a:t>mémoire</a:t>
            </a: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.</a:t>
            </a:r>
            <a:endParaRPr lang="en-US" sz="2800" dirty="0">
              <a:solidFill>
                <a:schemeClr val="bg2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668543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2863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17</Slides>
  <Notes>16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revision>15</cp:revision>
  <dcterms:created xsi:type="dcterms:W3CDTF">2026-04-09T08:40:09Z</dcterms:created>
  <dcterms:modified xsi:type="dcterms:W3CDTF">2026-04-16T07:31:53Z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e7dfc5-2bf4-4a75-8664-2dc4b3bb1d09_Enabled">
    <vt:lpwstr>true</vt:lpwstr>
  </property>
  <property fmtid="{D5CDD505-2E9C-101B-9397-08002B2CF9AE}" pid="3" name="MSIP_Label_47e7dfc5-2bf4-4a75-8664-2dc4b3bb1d09_Method">
    <vt:lpwstr>Standard</vt:lpwstr>
  </property>
  <property fmtid="{D5CDD505-2E9C-101B-9397-08002B2CF9AE}" pid="4" name="MSIP_Label_47e7dfc5-2bf4-4a75-8664-2dc4b3bb1d09_Name">
    <vt:lpwstr>defa4170-0d19-0005-0004-bc88714345d2</vt:lpwstr>
  </property>
  <property fmtid="{D5CDD505-2E9C-101B-9397-08002B2CF9AE}" pid="5" name="MSIP_Label_47e7dfc5-2bf4-4a75-8664-2dc4b3bb1d09_SiteId">
    <vt:lpwstr>413600cf-bd4e-4c7c-8a61-69e73cddf731</vt:lpwstr>
  </property>
  <property fmtid="{D5CDD505-2E9C-101B-9397-08002B2CF9AE}" pid="6" name="MSIP_Label_47e7dfc5-2bf4-4a75-8664-2dc4b3bb1d09_ContentBits">
    <vt:lpwstr>0</vt:lpwstr>
  </property>
  <property fmtid="{D5CDD505-2E9C-101B-9397-08002B2CF9AE}" pid="7" name="MSIP_Label_47e7dfc5-2bf4-4a75-8664-2dc4b3bb1d09_Tag">
    <vt:lpwstr>10, 3, 0, 2</vt:lpwstr>
  </property>
  <property fmtid="{D5CDD505-2E9C-101B-9397-08002B2CF9AE}" pid="8" name="MSIP_Label_47e7dfc5-2bf4-4a75-8664-2dc4b3bb1d09_SetDate">
    <vt:lpwstr>2026-04-15T20:12:39Z</vt:lpwstr>
  </property>
  <property fmtid="{D5CDD505-2E9C-101B-9397-08002B2CF9AE}" pid="9" name="MSIP_Label_47e7dfc5-2bf4-4a75-8664-2dc4b3bb1d09_ActionId">
    <vt:lpwstr>df21d259-54d6-4760-b6c4-3406012481ee</vt:lpwstr>
  </property>
</Properties>
</file>